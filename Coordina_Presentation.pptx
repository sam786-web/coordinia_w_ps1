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7fddc9f2-5b60-4712-207e-6aef995b90f2}">
          <p14:sldIdLst>
            <p14:sldId id="256"/>
          </p14:sldIdLst>
        </p14:section>
        <p14:section name="Idea" id="{ce84feac-322b-3170-6188-74100198e92c}">
          <p14:sldIdLst>
            <p14:sldId id="257"/>
          </p14:sldIdLst>
        </p14:section>
        <p14:section name="Technical Approach" id="{3506883c-1d07-a147-7759-590239cc5e4a}">
          <p14:sldIdLst>
            <p14:sldId id="258"/>
          </p14:sldIdLst>
        </p14:section>
        <p14:section name="Impact" id="{d442b372-1d3c-e7f8-5678-bda2bac35241}">
          <p14:sldIdLst>
            <p14:sldId id="259"/>
          </p14:sldIdLst>
        </p14:section>
        <p14:section name="Future Scope" id="{5d835b17-9b4a-6116-4ae7-dd78a0fb392a}">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Coordina is our answer to problem statement W-PS-1. It is an AI coordinator that runs the follow-up loop for a team: it checks in, understands messy replies, catches blockers and false 'done' claims, and messages the person who can unblock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in group projects nobody knows who is stuck or what 'done' really means. Coordina runs the follow-up loop automatically: it checks in, reads the reply, separates progress from blockers, relays the blocker to the right teammate, and updates every screen live. The prototype works end to end on a desktop dashboard, an Android companion app, a Telegram bot and GitHub commits.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channel — Telegram, the Android app, the dashboard and GitHub — feeds one FastAPI agent loop, so the logic is identical everywhere. The AI reads replies through a 4-layer shield: Groq with model rotation, Gemini as backup, a local Ollama model, and an offline rule engine, so the demo never fails. On top of every AI answer, our guardrails are enforced in Python code: mixed messages become Blocked, false 'done' claims are refused, blockers are relayed and tasks auto-unblock. Every change is pushed live over WebSockets.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Coordina removes the chasing: Auto-Pilot follows up and escalates by itself. Progress becomes honest, because false 'done' claims are refused and commits or links prove the work. Blockers reach the right person immediately, and it keeps working on any device, even offline. College teams get fair, visible contribution; company sprints get automatic standups; leads get a health score and only meaningful escalations.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want two-way sync with Jira, Linear and Slack, WhatsApp and Teams bots, voice notes in more Indian languages, delay prediction from history, calendar sync and a multi-team cloud version. The hard problems we solved: understanding messy multilingual replies, surviving LLM outages with a 4-layer fallback, and making AI decisions trustworthy by enforcing rules in code. The open challenge is privacy and scale, which we will address with per-team isolation, encrypted secrets and PostgreSQL.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KK_TITLE-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KK_CONTENT-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K_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K_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1371600" y="256032"/>
            <a:ext cx="7955280" cy="502920"/>
          </a:xfrm>
          <a:prstGeom prst="rect">
            <a:avLst/>
          </a:prstGeom>
          <a:noFill/>
          <a:ln/>
        </p:spPr>
        <p:txBody>
          <a:bodyPr wrap="square" rtlCol="0"/>
          <a:lstStyle>
            <a:lvl1pPr algn="ctr" indent="0" marL="0">
              <a:buNone/>
              <a:defRPr lang="en-US" sz="2400" b="1" dirty="0">
                <a:solidFill>
                  <a:schemeClr val="accent5"/>
                </a:solidFill>
                <a:latin typeface="Bookman Old Style" pitchFamily="34" charset="0"/>
                <a:ea typeface="Bookman Old Style" pitchFamily="34" charset="-122"/>
                <a:cs typeface="Bookman Old Style" pitchFamily="34" charset="-120"/>
              </a:defRPr>
            </a:lvl1pPr>
          </a:lstStyle>
          <a:p>
            <a:pPr algn="ctr" indent="0" marL="0">
              <a:buNone/>
            </a:pPr>
            <a:endParaRPr lang="en-US" sz="2400" dirty="0"/>
          </a:p>
        </p:txBody>
      </p:sp>
      <p:sp>
        <p:nvSpPr>
          <p:cNvPr id="3" name="Text 0"/>
          <p:cNvSpPr/>
          <p:nvPr/>
        </p:nvSpPr>
        <p:spPr>
          <a:xfrm>
            <a:off x="658368" y="6601968"/>
            <a:ext cx="4572000" cy="256032"/>
          </a:xfrm>
          <a:prstGeom prst="rect">
            <a:avLst/>
          </a:prstGeom>
          <a:noFill/>
          <a:ln/>
        </p:spPr>
        <p:txBody>
          <a:bodyPr wrap="square" lIns="0" tIns="0" rIns="0" bIns="0" rtlCol="0" anchor="ctr"/>
          <a:lstStyle/>
          <a:p>
            <a:pPr indent="0" marL="0">
              <a:buNone/>
            </a:pPr>
            <a:r>
              <a:rPr lang="en-US" sz="1100" b="1" dirty="0">
                <a:solidFill>
                  <a:schemeClr val="accent5"/>
                </a:solidFill>
                <a:latin typeface="Bookman Old Style" pitchFamily="34" charset="0"/>
                <a:ea typeface="Bookman Old Style" pitchFamily="34" charset="-122"/>
                <a:cs typeface="Bookman Old Style" pitchFamily="34" charset="-120"/>
              </a:rPr>
              <a:t>YOUR TEAM NAME</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3.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3.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slideLayout" Target="../slideLayouts/slideLayout3.xml"/><Relationship Id="rId1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vent tagline"/>
          <p:cNvSpPr txBox="1"/>
          <p:nvPr/>
        </p:nvSpPr>
        <p:spPr>
          <a:xfrm>
            <a:off x="2743200" y="1572768"/>
            <a:ext cx="6702552" cy="274320"/>
          </a:xfrm>
          <a:prstGeom prst="rect">
            <a:avLst/>
          </a:prstGeom>
          <a:noFill/>
          <a:ln/>
        </p:spPr>
        <p:txBody>
          <a:bodyPr wrap="square" lIns="0" tIns="0" rIns="0" bIns="0" rtlCol="0" anchor="ctr"/>
          <a:lstStyle/>
          <a:p>
            <a:pPr algn="ctr" indent="0" marL="0">
              <a:buNone/>
            </a:pPr>
            <a:r>
              <a:rPr lang="en-US" sz="1200" spc="100" kern="0" dirty="0">
                <a:solidFill>
                  <a:schemeClr val="tx1"/>
                </a:solidFill>
                <a:latin typeface="Cambria" pitchFamily="34" charset="0"/>
                <a:ea typeface="Cambria" pitchFamily="34" charset="-122"/>
                <a:cs typeface="Cambria" pitchFamily="34" charset="-120"/>
              </a:rPr>
              <a:t>THE BATTLE WITH INFINITE POSSIBILITIES</a:t>
            </a:r>
            <a:endParaRPr lang="en-US" sz="1200" dirty="0"/>
          </a:p>
        </p:txBody>
      </p:sp>
      <p:sp>
        <p:nvSpPr>
          <p:cNvPr id="3" name="Project title"/>
          <p:cNvSpPr txBox="1"/>
          <p:nvPr/>
        </p:nvSpPr>
        <p:spPr>
          <a:xfrm>
            <a:off x="1371600" y="2176272"/>
            <a:ext cx="9445752" cy="868680"/>
          </a:xfrm>
          <a:prstGeom prst="rect">
            <a:avLst/>
          </a:prstGeom>
          <a:noFill/>
          <a:ln/>
        </p:spPr>
        <p:txBody>
          <a:bodyPr wrap="square" lIns="0" tIns="0" rIns="0" bIns="0" rtlCol="0" anchor="ctr"/>
          <a:lstStyle/>
          <a:p>
            <a:pPr algn="ctr" indent="0" marL="0">
              <a:buNone/>
            </a:pPr>
            <a:r>
              <a:rPr lang="en-US" sz="6000" b="1" spc="400" kern="0" dirty="0">
                <a:solidFill>
                  <a:schemeClr val="accent1"/>
                </a:solidFill>
                <a:latin typeface="Bookman Old Style" pitchFamily="34" charset="0"/>
                <a:ea typeface="Bookman Old Style" pitchFamily="34" charset="-122"/>
                <a:cs typeface="Bookman Old Style" pitchFamily="34" charset="-120"/>
              </a:rPr>
              <a:t>COORDINA</a:t>
            </a:r>
            <a:endParaRPr lang="en-US" sz="6000" dirty="0"/>
          </a:p>
        </p:txBody>
      </p:sp>
      <p:sp>
        <p:nvSpPr>
          <p:cNvPr id="4" name="Project tagline"/>
          <p:cNvSpPr txBox="1"/>
          <p:nvPr/>
        </p:nvSpPr>
        <p:spPr>
          <a:xfrm>
            <a:off x="1371600" y="3017520"/>
            <a:ext cx="9445752" cy="292608"/>
          </a:xfrm>
          <a:prstGeom prst="rect">
            <a:avLst/>
          </a:prstGeom>
          <a:noFill/>
          <a:ln/>
        </p:spPr>
        <p:txBody>
          <a:bodyPr wrap="square" lIns="0" tIns="0" rIns="0" bIns="0" rtlCol="0" anchor="ctr"/>
          <a:lstStyle/>
          <a:p>
            <a:pPr algn="ctr" indent="0" marL="0">
              <a:buNone/>
            </a:pPr>
            <a:r>
              <a:rPr lang="en-US" sz="1200" dirty="0">
                <a:solidFill>
                  <a:schemeClr val="tx1"/>
                </a:solidFill>
                <a:latin typeface="Cambria" pitchFamily="34" charset="0"/>
                <a:ea typeface="Cambria" pitchFamily="34" charset="-122"/>
                <a:cs typeface="Cambria" pitchFamily="34" charset="-120"/>
              </a:rPr>
              <a:t>AUTONOMOUS AI COORDINATOR THAT CHASES UPDATES, UNTANGLES BLOCKERS AND KEEPS EVERY TEAMMATE IN SYNC</a:t>
            </a:r>
            <a:endParaRPr lang="en-US" sz="1200" dirty="0"/>
          </a:p>
        </p:txBody>
      </p:sp>
      <p:sp>
        <p:nvSpPr>
          <p:cNvPr id="5" name="TEAM NAME label"/>
          <p:cNvSpPr txBox="1"/>
          <p:nvPr/>
        </p:nvSpPr>
        <p:spPr>
          <a:xfrm>
            <a:off x="1792224" y="3703320"/>
            <a:ext cx="2926080" cy="365760"/>
          </a:xfrm>
          <a:prstGeom prst="rect">
            <a:avLst/>
          </a:prstGeom>
          <a:noFill/>
          <a:ln/>
        </p:spPr>
        <p:txBody>
          <a:bodyPr wrap="square" lIns="0" tIns="0" rIns="0" bIns="0" rtlCol="0" anchor="ctr"/>
          <a:lstStyle/>
          <a:p>
            <a:pPr algn="ctr" indent="0" marL="0">
              <a:buNone/>
            </a:pPr>
            <a:r>
              <a:rPr lang="en-US" sz="1700" b="1" dirty="0">
                <a:solidFill>
                  <a:schemeClr val="accent1"/>
                </a:solidFill>
                <a:latin typeface="Bookman Old Style" pitchFamily="34" charset="0"/>
                <a:ea typeface="Bookman Old Style" pitchFamily="34" charset="-122"/>
                <a:cs typeface="Bookman Old Style" pitchFamily="34" charset="-120"/>
              </a:rPr>
              <a:t>TEAM NAME</a:t>
            </a:r>
            <a:endParaRPr lang="en-US" sz="1700" dirty="0"/>
          </a:p>
        </p:txBody>
      </p:sp>
      <p:sp>
        <p:nvSpPr>
          <p:cNvPr id="6" name="TEAM NAME value"/>
          <p:cNvSpPr txBox="1"/>
          <p:nvPr/>
        </p:nvSpPr>
        <p:spPr>
          <a:xfrm>
            <a:off x="1883664" y="4114800"/>
            <a:ext cx="2743200" cy="822960"/>
          </a:xfrm>
          <a:prstGeom prst="rect">
            <a:avLst/>
          </a:prstGeom>
          <a:noFill/>
          <a:ln/>
        </p:spPr>
        <p:txBody>
          <a:bodyPr wrap="square" lIns="0" tIns="0" rIns="0" bIns="0" rtlCol="0" anchor="t"/>
          <a:lstStyle/>
          <a:p>
            <a:pPr algn="ctr" indent="0" marL="0">
              <a:buNone/>
            </a:pPr>
            <a:r>
              <a:rPr lang="en-US" sz="1400" dirty="0">
                <a:solidFill>
                  <a:schemeClr val="tx1"/>
                </a:solidFill>
                <a:latin typeface="Cambria" pitchFamily="34" charset="0"/>
                <a:ea typeface="Cambria" pitchFamily="34" charset="-122"/>
                <a:cs typeface="Cambria" pitchFamily="34" charset="-120"/>
              </a:rPr>
              <a:t>Your Team Name</a:t>
            </a:r>
            <a:endParaRPr lang="en-US" sz="1400" dirty="0"/>
          </a:p>
        </p:txBody>
      </p:sp>
      <p:sp>
        <p:nvSpPr>
          <p:cNvPr id="7" name="TEAM MEMBERS label"/>
          <p:cNvSpPr txBox="1"/>
          <p:nvPr/>
        </p:nvSpPr>
        <p:spPr>
          <a:xfrm>
            <a:off x="4636008" y="3703320"/>
            <a:ext cx="2926080" cy="365760"/>
          </a:xfrm>
          <a:prstGeom prst="rect">
            <a:avLst/>
          </a:prstGeom>
          <a:noFill/>
          <a:ln/>
        </p:spPr>
        <p:txBody>
          <a:bodyPr wrap="square" lIns="0" tIns="0" rIns="0" bIns="0" rtlCol="0" anchor="ctr"/>
          <a:lstStyle/>
          <a:p>
            <a:pPr algn="ctr" indent="0" marL="0">
              <a:buNone/>
            </a:pPr>
            <a:r>
              <a:rPr lang="en-US" sz="1700" b="1" dirty="0">
                <a:solidFill>
                  <a:schemeClr val="accent1"/>
                </a:solidFill>
                <a:latin typeface="Bookman Old Style" pitchFamily="34" charset="0"/>
                <a:ea typeface="Bookman Old Style" pitchFamily="34" charset="-122"/>
                <a:cs typeface="Bookman Old Style" pitchFamily="34" charset="-120"/>
              </a:rPr>
              <a:t>TEAM MEMBERS</a:t>
            </a:r>
            <a:endParaRPr lang="en-US" sz="1700" dirty="0"/>
          </a:p>
        </p:txBody>
      </p:sp>
      <p:sp>
        <p:nvSpPr>
          <p:cNvPr id="8" name="TEAM MEMBERS value"/>
          <p:cNvSpPr txBox="1"/>
          <p:nvPr/>
        </p:nvSpPr>
        <p:spPr>
          <a:xfrm>
            <a:off x="4727448" y="4114800"/>
            <a:ext cx="2743200" cy="822960"/>
          </a:xfrm>
          <a:prstGeom prst="rect">
            <a:avLst/>
          </a:prstGeom>
          <a:noFill/>
          <a:ln/>
        </p:spPr>
        <p:txBody>
          <a:bodyPr wrap="square" lIns="0" tIns="0" rIns="0" bIns="0" rtlCol="0" anchor="t"/>
          <a:lstStyle/>
          <a:p>
            <a:pPr algn="ctr" indent="0" marL="0">
              <a:buNone/>
            </a:pPr>
            <a:r>
              <a:rPr lang="en-US" sz="1400" dirty="0">
                <a:solidFill>
                  <a:schemeClr val="tx1"/>
                </a:solidFill>
                <a:latin typeface="Cambria" pitchFamily="34" charset="0"/>
                <a:ea typeface="Cambria" pitchFamily="34" charset="-122"/>
                <a:cs typeface="Cambria" pitchFamily="34" charset="-120"/>
              </a:rPr>
              <a:t>Member 1 · Member 2 · Member 3</a:t>
            </a:r>
            <a:endParaRPr lang="en-US" sz="1400" dirty="0"/>
          </a:p>
        </p:txBody>
      </p:sp>
      <p:sp>
        <p:nvSpPr>
          <p:cNvPr id="9" name="INSTITUTION label"/>
          <p:cNvSpPr txBox="1"/>
          <p:nvPr/>
        </p:nvSpPr>
        <p:spPr>
          <a:xfrm>
            <a:off x="7488936" y="3703320"/>
            <a:ext cx="2926080" cy="365760"/>
          </a:xfrm>
          <a:prstGeom prst="rect">
            <a:avLst/>
          </a:prstGeom>
          <a:noFill/>
          <a:ln/>
        </p:spPr>
        <p:txBody>
          <a:bodyPr wrap="square" lIns="0" tIns="0" rIns="0" bIns="0" rtlCol="0" anchor="ctr"/>
          <a:lstStyle/>
          <a:p>
            <a:pPr algn="ctr" indent="0" marL="0">
              <a:buNone/>
            </a:pPr>
            <a:r>
              <a:rPr lang="en-US" sz="1700" b="1" dirty="0">
                <a:solidFill>
                  <a:schemeClr val="accent1"/>
                </a:solidFill>
                <a:latin typeface="Bookman Old Style" pitchFamily="34" charset="0"/>
                <a:ea typeface="Bookman Old Style" pitchFamily="34" charset="-122"/>
                <a:cs typeface="Bookman Old Style" pitchFamily="34" charset="-120"/>
              </a:rPr>
              <a:t>INSTITUTION</a:t>
            </a:r>
            <a:endParaRPr lang="en-US" sz="1700" dirty="0"/>
          </a:p>
        </p:txBody>
      </p:sp>
      <p:sp>
        <p:nvSpPr>
          <p:cNvPr id="10" name="INSTITUTION value"/>
          <p:cNvSpPr txBox="1"/>
          <p:nvPr/>
        </p:nvSpPr>
        <p:spPr>
          <a:xfrm>
            <a:off x="7580376" y="4114800"/>
            <a:ext cx="2743200" cy="822960"/>
          </a:xfrm>
          <a:prstGeom prst="rect">
            <a:avLst/>
          </a:prstGeom>
          <a:noFill/>
          <a:ln/>
        </p:spPr>
        <p:txBody>
          <a:bodyPr wrap="square" lIns="0" tIns="0" rIns="0" bIns="0" rtlCol="0" anchor="t"/>
          <a:lstStyle/>
          <a:p>
            <a:pPr algn="ctr" indent="0" marL="0">
              <a:buNone/>
            </a:pPr>
            <a:r>
              <a:rPr lang="en-US" sz="1400" dirty="0">
                <a:solidFill>
                  <a:schemeClr val="tx1"/>
                </a:solidFill>
                <a:latin typeface="Cambria" pitchFamily="34" charset="0"/>
                <a:ea typeface="Cambria" pitchFamily="34" charset="-122"/>
                <a:cs typeface="Cambria" pitchFamily="34" charset="-120"/>
              </a:rPr>
              <a:t>Your Institution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1371600" y="256032"/>
            <a:ext cx="7955280" cy="502920"/>
          </a:xfrm>
          <a:prstGeom prst="rect">
            <a:avLst/>
          </a:prstGeom>
          <a:noFill/>
          <a:ln/>
        </p:spPr>
        <p:txBody>
          <a:bodyPr wrap="square" lIns="0" tIns="0" rIns="0" bIns="0" rtlCol="0" anchor="ctr"/>
          <a:lstStyle/>
          <a:p>
            <a:pPr algn="ctr" indent="0" marL="0">
              <a:buNone/>
            </a:pPr>
            <a:r>
              <a:rPr lang="en-US" sz="2400" b="1" dirty="0">
                <a:solidFill>
                  <a:schemeClr val="accent5"/>
                </a:solidFill>
                <a:latin typeface="Bookman Old Style" pitchFamily="34" charset="0"/>
                <a:ea typeface="Bookman Old Style" pitchFamily="34" charset="-122"/>
                <a:cs typeface="Bookman Old Style" pitchFamily="34" charset="-120"/>
              </a:rPr>
              <a:t>IDEA / SOLUTION / PROTOTYPE</a:t>
            </a:r>
            <a:endParaRPr lang="en-US" sz="2400" dirty="0"/>
          </a:p>
        </p:txBody>
      </p:sp>
      <p:sp>
        <p:nvSpPr>
          <p:cNvPr id="3" name="Problem card"/>
          <p:cNvSpPr/>
          <p:nvPr/>
        </p:nvSpPr>
        <p:spPr>
          <a:xfrm>
            <a:off x="457200" y="1188720"/>
            <a:ext cx="5486400" cy="1463040"/>
          </a:xfrm>
          <a:prstGeom prst="roundRect">
            <a:avLst>
              <a:gd name="adj" fmla="val 5000"/>
            </a:avLst>
          </a:prstGeom>
          <a:solidFill>
            <a:schemeClr val="bg1">
              <a:alpha val="75000"/>
            </a:schemeClr>
          </a:solidFill>
          <a:ln w="9525">
            <a:solidFill>
              <a:schemeClr val="accent2"/>
            </a:solidFill>
            <a:prstDash val="solid"/>
          </a:ln>
          <a:effectLst>
            <a:outerShdw sx="100000" sy="100000" kx="0" ky="0" algn="bl" rotWithShape="0" blurRad="76200" dist="25400" dir="5400000">
              <a:srgbClr val="3A1A0C">
                <a:alpha val="18000"/>
              </a:srgbClr>
            </a:outerShdw>
          </a:effectLst>
        </p:spPr>
      </p:sp>
      <p:sp>
        <p:nvSpPr>
          <p:cNvPr id="4" name="Problem label"/>
          <p:cNvSpPr txBox="1"/>
          <p:nvPr/>
        </p:nvSpPr>
        <p:spPr>
          <a:xfrm>
            <a:off x="685800" y="1280160"/>
            <a:ext cx="5029200" cy="292608"/>
          </a:xfrm>
          <a:prstGeom prst="rect">
            <a:avLst/>
          </a:prstGeom>
          <a:noFill/>
          <a:ln/>
        </p:spPr>
        <p:txBody>
          <a:bodyPr wrap="square" lIns="0" tIns="0" rIns="0" bIns="0" rtlCol="0" anchor="ctr"/>
          <a:lstStyle/>
          <a:p>
            <a:pPr indent="0" marL="0">
              <a:buNone/>
            </a:pPr>
            <a:r>
              <a:rPr lang="en-US" sz="1400" b="1" spc="100" kern="0" dirty="0">
                <a:solidFill>
                  <a:schemeClr val="accent1"/>
                </a:solidFill>
                <a:latin typeface="Bookman Old Style" pitchFamily="34" charset="0"/>
                <a:ea typeface="Bookman Old Style" pitchFamily="34" charset="-122"/>
                <a:cs typeface="Bookman Old Style" pitchFamily="34" charset="-120"/>
              </a:rPr>
              <a:t>THE PROBLEM</a:t>
            </a:r>
            <a:endParaRPr lang="en-US" sz="1400" dirty="0"/>
          </a:p>
        </p:txBody>
      </p:sp>
      <p:sp>
        <p:nvSpPr>
          <p:cNvPr id="5" name="Problem text"/>
          <p:cNvSpPr txBox="1"/>
          <p:nvPr/>
        </p:nvSpPr>
        <p:spPr>
          <a:xfrm>
            <a:off x="685800" y="1600200"/>
            <a:ext cx="5029200" cy="960120"/>
          </a:xfrm>
          <a:prstGeom prst="rect">
            <a:avLst/>
          </a:prstGeom>
          <a:noFill/>
          <a:ln/>
        </p:spPr>
        <p:txBody>
          <a:bodyPr wrap="square" lIns="0" tIns="0" rIns="0" bIns="0" rtlCol="0" anchor="t"/>
          <a:lstStyle/>
          <a:p>
            <a:pPr indent="0" marL="0">
              <a:buNone/>
            </a:pPr>
            <a:r>
              <a:rPr lang="en-US" sz="1400" dirty="0">
                <a:solidFill>
                  <a:schemeClr val="tx1"/>
                </a:solidFill>
              </a:rPr>
              <a:t>Group projects rarely fail because the work is hard. They fail because nobody knows who is stuck, who they are waiting on, or whether “basically done” really means done.</a:t>
            </a:r>
            <a:endParaRPr lang="en-US" sz="1400" dirty="0"/>
          </a:p>
        </p:txBody>
      </p:sp>
      <p:sp>
        <p:nvSpPr>
          <p:cNvPr id="6" name="Solution card"/>
          <p:cNvSpPr/>
          <p:nvPr/>
        </p:nvSpPr>
        <p:spPr>
          <a:xfrm>
            <a:off x="6245352" y="1188720"/>
            <a:ext cx="5486400" cy="1463040"/>
          </a:xfrm>
          <a:prstGeom prst="roundRect">
            <a:avLst>
              <a:gd name="adj" fmla="val 5000"/>
            </a:avLst>
          </a:prstGeom>
          <a:solidFill>
            <a:schemeClr val="bg1">
              <a:alpha val="75000"/>
            </a:schemeClr>
          </a:solidFill>
          <a:ln w="9525">
            <a:solidFill>
              <a:schemeClr val="accent2"/>
            </a:solidFill>
            <a:prstDash val="solid"/>
          </a:ln>
          <a:effectLst>
            <a:outerShdw sx="100000" sy="100000" kx="0" ky="0" algn="bl" rotWithShape="0" blurRad="76200" dist="25400" dir="5400000">
              <a:srgbClr val="3A1A0C">
                <a:alpha val="18000"/>
              </a:srgbClr>
            </a:outerShdw>
          </a:effectLst>
        </p:spPr>
      </p:sp>
      <p:sp>
        <p:nvSpPr>
          <p:cNvPr id="7" name="Solution label"/>
          <p:cNvSpPr txBox="1"/>
          <p:nvPr/>
        </p:nvSpPr>
        <p:spPr>
          <a:xfrm>
            <a:off x="6473952" y="1280160"/>
            <a:ext cx="5029200" cy="292608"/>
          </a:xfrm>
          <a:prstGeom prst="rect">
            <a:avLst/>
          </a:prstGeom>
          <a:noFill/>
          <a:ln/>
        </p:spPr>
        <p:txBody>
          <a:bodyPr wrap="square" lIns="0" tIns="0" rIns="0" bIns="0" rtlCol="0" anchor="ctr"/>
          <a:lstStyle/>
          <a:p>
            <a:pPr indent="0" marL="0">
              <a:buNone/>
            </a:pPr>
            <a:r>
              <a:rPr lang="en-US" sz="1400" b="1" spc="100" kern="0" dirty="0">
                <a:solidFill>
                  <a:schemeClr val="accent1"/>
                </a:solidFill>
                <a:latin typeface="Bookman Old Style" pitchFamily="34" charset="0"/>
                <a:ea typeface="Bookman Old Style" pitchFamily="34" charset="-122"/>
                <a:cs typeface="Bookman Old Style" pitchFamily="34" charset="-120"/>
              </a:rPr>
              <a:t>OUR SOLUTION</a:t>
            </a:r>
            <a:endParaRPr lang="en-US" sz="1400" dirty="0"/>
          </a:p>
        </p:txBody>
      </p:sp>
      <p:sp>
        <p:nvSpPr>
          <p:cNvPr id="8" name="Solution text"/>
          <p:cNvSpPr txBox="1"/>
          <p:nvPr/>
        </p:nvSpPr>
        <p:spPr>
          <a:xfrm>
            <a:off x="6473952" y="1600200"/>
            <a:ext cx="5029200" cy="960120"/>
          </a:xfrm>
          <a:prstGeom prst="rect">
            <a:avLst/>
          </a:prstGeom>
          <a:noFill/>
          <a:ln/>
        </p:spPr>
        <p:txBody>
          <a:bodyPr wrap="square" lIns="0" tIns="0" rIns="0" bIns="0" rtlCol="0" anchor="t"/>
          <a:lstStyle/>
          <a:p>
            <a:pPr indent="0" marL="0">
              <a:buNone/>
            </a:pPr>
            <a:r>
              <a:rPr lang="en-US" sz="1400" dirty="0">
                <a:solidFill>
                  <a:schemeClr val="tx1"/>
                </a:solidFill>
              </a:rPr>
              <a:t>Coordina checks in with every teammate, understands messy replies (English, Hinglish, sarcasm), spots blockers, and messages the one person who can unblock the work.</a:t>
            </a:r>
            <a:endParaRPr lang="en-US" sz="1400" dirty="0"/>
          </a:p>
        </p:txBody>
      </p:sp>
      <p:sp>
        <p:nvSpPr>
          <p:cNvPr id="9" name="Core loop label"/>
          <p:cNvSpPr txBox="1"/>
          <p:nvPr/>
        </p:nvSpPr>
        <p:spPr>
          <a:xfrm>
            <a:off x="457200" y="2816352"/>
            <a:ext cx="5486400" cy="292608"/>
          </a:xfrm>
          <a:prstGeom prst="rect">
            <a:avLst/>
          </a:prstGeom>
          <a:noFill/>
          <a:ln/>
        </p:spPr>
        <p:txBody>
          <a:bodyPr wrap="square" lIns="0" tIns="0" rIns="0" bIns="0" rtlCol="0" anchor="ctr"/>
          <a:lstStyle/>
          <a:p>
            <a:pPr indent="0" marL="0">
              <a:buNone/>
            </a:pPr>
            <a:r>
              <a:rPr lang="en-US" sz="1400" b="1" spc="100" kern="0" dirty="0">
                <a:solidFill>
                  <a:schemeClr val="accent1"/>
                </a:solidFill>
                <a:latin typeface="Bookman Old Style" pitchFamily="34" charset="0"/>
                <a:ea typeface="Bookman Old Style" pitchFamily="34" charset="-122"/>
                <a:cs typeface="Bookman Old Style" pitchFamily="34" charset="-120"/>
              </a:rPr>
              <a:t>THE CORE LOOP</a:t>
            </a:r>
            <a:endParaRPr lang="en-US" sz="1400" dirty="0"/>
          </a:p>
        </p:txBody>
      </p:sp>
      <p:sp>
        <p:nvSpPr>
          <p:cNvPr id="10" name="Step 1 card"/>
          <p:cNvSpPr/>
          <p:nvPr/>
        </p:nvSpPr>
        <p:spPr>
          <a:xfrm>
            <a:off x="457200" y="3154680"/>
            <a:ext cx="2011680" cy="868680"/>
          </a:xfrm>
          <a:prstGeom prst="roundRect">
            <a:avLst>
              <a:gd name="adj" fmla="val 8421"/>
            </a:avLst>
          </a:prstGeom>
          <a:solidFill>
            <a:schemeClr val="bg1">
              <a:alpha val="75000"/>
            </a:schemeClr>
          </a:solidFill>
          <a:ln w="9525">
            <a:solidFill>
              <a:schemeClr val="accent2"/>
            </a:solidFill>
            <a:prstDash val="solid"/>
          </a:ln>
          <a:effectLst>
            <a:outerShdw sx="100000" sy="100000" kx="0" ky="0" algn="bl" rotWithShape="0" blurRad="76200" dist="25400" dir="5400000">
              <a:srgbClr val="3A1A0C">
                <a:alpha val="18000"/>
              </a:srgbClr>
            </a:outerShdw>
          </a:effectLst>
        </p:spPr>
      </p:sp>
      <p:sp>
        <p:nvSpPr>
          <p:cNvPr id="11" name="Step 1 circle"/>
          <p:cNvSpPr/>
          <p:nvPr/>
        </p:nvSpPr>
        <p:spPr>
          <a:xfrm>
            <a:off x="594360" y="3337560"/>
            <a:ext cx="502920" cy="502920"/>
          </a:xfrm>
          <a:prstGeom prst="ellipse">
            <a:avLst/>
          </a:prstGeom>
          <a:solidFill>
            <a:schemeClr val="accent1"/>
          </a:solidFill>
          <a:ln w="12700">
            <a:solidFill>
              <a:schemeClr val="accent2"/>
            </a:solidFill>
            <a:prstDash val="solid"/>
          </a:ln>
        </p:spPr>
      </p:sp>
      <p:pic>
        <p:nvPicPr>
          <p:cNvPr id="12" name="Step 1 icon" descr="preencoded.png">    </p:cNvPr>
          <p:cNvPicPr>
            <a:picLocks noChangeAspect="1"/>
          </p:cNvPicPr>
          <p:nvPr/>
        </p:nvPicPr>
        <p:blipFill>
          <a:blip r:embed="rId1"/>
          <a:stretch>
            <a:fillRect/>
          </a:stretch>
        </p:blipFill>
        <p:spPr>
          <a:xfrm>
            <a:off x="715061" y="3458261"/>
            <a:ext cx="261518" cy="261518"/>
          </a:xfrm>
          <a:prstGeom prst="rect">
            <a:avLst/>
          </a:prstGeom>
        </p:spPr>
      </p:pic>
      <p:sp>
        <p:nvSpPr>
          <p:cNvPr id="13" name="Step 1 text"/>
          <p:cNvSpPr txBox="1"/>
          <p:nvPr/>
        </p:nvSpPr>
        <p:spPr>
          <a:xfrm>
            <a:off x="1188720" y="3200400"/>
            <a:ext cx="1207008" cy="777240"/>
          </a:xfrm>
          <a:prstGeom prst="rect">
            <a:avLst/>
          </a:prstGeom>
          <a:noFill/>
          <a:ln/>
        </p:spPr>
        <p:txBody>
          <a:bodyPr wrap="square" lIns="0" tIns="0" rIns="0" bIns="0" rtlCol="0" anchor="ctr"/>
          <a:lstStyle/>
          <a:p>
            <a:pPr indent="0" marL="0">
              <a:buNone/>
            </a:pPr>
            <a:r>
              <a:rPr lang="en-US" sz="1400" b="1" dirty="0">
                <a:solidFill>
                  <a:schemeClr val="accent1"/>
                </a:solidFill>
              </a:rPr>
              <a:t>Follow-up</a:t>
            </a:r>
            <a:endParaRPr lang="en-US" sz="1400" dirty="0"/>
          </a:p>
          <a:p>
            <a:pPr indent="0" marL="0">
              <a:buNone/>
            </a:pPr>
            <a:r>
              <a:rPr lang="en-US" sz="1100" dirty="0">
                <a:solidFill>
                  <a:schemeClr val="tx1"/>
                </a:solidFill>
              </a:rPr>
              <a:t>Auto-Pilot checks in</a:t>
            </a:r>
            <a:endParaRPr lang="en-US" sz="1400" dirty="0"/>
          </a:p>
        </p:txBody>
      </p:sp>
      <p:sp>
        <p:nvSpPr>
          <p:cNvPr id="14" name="Step arrow 1"/>
          <p:cNvSpPr/>
          <p:nvPr/>
        </p:nvSpPr>
        <p:spPr>
          <a:xfrm>
            <a:off x="2514600" y="3474720"/>
            <a:ext cx="212598" cy="228600"/>
          </a:xfrm>
          <a:prstGeom prst="rightArrow">
            <a:avLst/>
          </a:prstGeom>
          <a:solidFill>
            <a:schemeClr val="accent2"/>
          </a:solidFill>
          <a:ln w="12700">
            <a:solidFill>
              <a:schemeClr val="accent2"/>
            </a:solidFill>
            <a:prstDash val="solid"/>
          </a:ln>
        </p:spPr>
      </p:sp>
      <p:sp>
        <p:nvSpPr>
          <p:cNvPr id="15" name="Step 2 card"/>
          <p:cNvSpPr/>
          <p:nvPr/>
        </p:nvSpPr>
        <p:spPr>
          <a:xfrm>
            <a:off x="2772918" y="3154680"/>
            <a:ext cx="2011680" cy="868680"/>
          </a:xfrm>
          <a:prstGeom prst="roundRect">
            <a:avLst>
              <a:gd name="adj" fmla="val 8421"/>
            </a:avLst>
          </a:prstGeom>
          <a:solidFill>
            <a:schemeClr val="bg1">
              <a:alpha val="75000"/>
            </a:schemeClr>
          </a:solidFill>
          <a:ln w="9525">
            <a:solidFill>
              <a:schemeClr val="accent2"/>
            </a:solidFill>
            <a:prstDash val="solid"/>
          </a:ln>
          <a:effectLst>
            <a:outerShdw sx="100000" sy="100000" kx="0" ky="0" algn="bl" rotWithShape="0" blurRad="76200" dist="25400" dir="5400000">
              <a:srgbClr val="3A1A0C">
                <a:alpha val="18000"/>
              </a:srgbClr>
            </a:outerShdw>
          </a:effectLst>
        </p:spPr>
      </p:sp>
      <p:sp>
        <p:nvSpPr>
          <p:cNvPr id="16" name="Step 2 circle"/>
          <p:cNvSpPr/>
          <p:nvPr/>
        </p:nvSpPr>
        <p:spPr>
          <a:xfrm>
            <a:off x="2910078" y="3337560"/>
            <a:ext cx="502920" cy="502920"/>
          </a:xfrm>
          <a:prstGeom prst="ellipse">
            <a:avLst/>
          </a:prstGeom>
          <a:solidFill>
            <a:schemeClr val="accent1"/>
          </a:solidFill>
          <a:ln w="12700">
            <a:solidFill>
              <a:schemeClr val="accent2"/>
            </a:solidFill>
            <a:prstDash val="solid"/>
          </a:ln>
        </p:spPr>
      </p:sp>
      <p:pic>
        <p:nvPicPr>
          <p:cNvPr id="17" name="Step 2 icon" descr="preencoded.png">    </p:cNvPr>
          <p:cNvPicPr>
            <a:picLocks noChangeAspect="1"/>
          </p:cNvPicPr>
          <p:nvPr/>
        </p:nvPicPr>
        <p:blipFill>
          <a:blip r:embed="rId2"/>
          <a:stretch>
            <a:fillRect/>
          </a:stretch>
        </p:blipFill>
        <p:spPr>
          <a:xfrm>
            <a:off x="3030779" y="3458261"/>
            <a:ext cx="261518" cy="261518"/>
          </a:xfrm>
          <a:prstGeom prst="rect">
            <a:avLst/>
          </a:prstGeom>
        </p:spPr>
      </p:pic>
      <p:sp>
        <p:nvSpPr>
          <p:cNvPr id="18" name="Step 2 text"/>
          <p:cNvSpPr txBox="1"/>
          <p:nvPr/>
        </p:nvSpPr>
        <p:spPr>
          <a:xfrm>
            <a:off x="3504438" y="3200400"/>
            <a:ext cx="1207008" cy="777240"/>
          </a:xfrm>
          <a:prstGeom prst="rect">
            <a:avLst/>
          </a:prstGeom>
          <a:noFill/>
          <a:ln/>
        </p:spPr>
        <p:txBody>
          <a:bodyPr wrap="square" lIns="0" tIns="0" rIns="0" bIns="0" rtlCol="0" anchor="ctr"/>
          <a:lstStyle/>
          <a:p>
            <a:pPr indent="0" marL="0">
              <a:buNone/>
            </a:pPr>
            <a:r>
              <a:rPr lang="en-US" sz="1400" b="1" dirty="0">
                <a:solidFill>
                  <a:schemeClr val="accent1"/>
                </a:solidFill>
              </a:rPr>
              <a:t>Reply</a:t>
            </a:r>
            <a:endParaRPr lang="en-US" sz="1400" dirty="0"/>
          </a:p>
          <a:p>
            <a:pPr indent="0" marL="0">
              <a:buNone/>
            </a:pPr>
            <a:r>
              <a:rPr lang="en-US" sz="1100" dirty="0">
                <a:solidFill>
                  <a:schemeClr val="tx1"/>
                </a:solidFill>
              </a:rPr>
              <a:t>Text, voice or commit</a:t>
            </a:r>
            <a:endParaRPr lang="en-US" sz="1400" dirty="0"/>
          </a:p>
        </p:txBody>
      </p:sp>
      <p:sp>
        <p:nvSpPr>
          <p:cNvPr id="19" name="Step arrow 2"/>
          <p:cNvSpPr/>
          <p:nvPr/>
        </p:nvSpPr>
        <p:spPr>
          <a:xfrm>
            <a:off x="4830318" y="3474720"/>
            <a:ext cx="212598" cy="228600"/>
          </a:xfrm>
          <a:prstGeom prst="rightArrow">
            <a:avLst/>
          </a:prstGeom>
          <a:solidFill>
            <a:schemeClr val="accent2"/>
          </a:solidFill>
          <a:ln w="12700">
            <a:solidFill>
              <a:schemeClr val="accent2"/>
            </a:solidFill>
            <a:prstDash val="solid"/>
          </a:ln>
        </p:spPr>
      </p:sp>
      <p:sp>
        <p:nvSpPr>
          <p:cNvPr id="20" name="Step 3 card"/>
          <p:cNvSpPr/>
          <p:nvPr/>
        </p:nvSpPr>
        <p:spPr>
          <a:xfrm>
            <a:off x="5088636" y="3154680"/>
            <a:ext cx="2011680" cy="868680"/>
          </a:xfrm>
          <a:prstGeom prst="roundRect">
            <a:avLst>
              <a:gd name="adj" fmla="val 8421"/>
            </a:avLst>
          </a:prstGeom>
          <a:solidFill>
            <a:schemeClr val="bg1">
              <a:alpha val="75000"/>
            </a:schemeClr>
          </a:solidFill>
          <a:ln w="9525">
            <a:solidFill>
              <a:schemeClr val="accent2"/>
            </a:solidFill>
            <a:prstDash val="solid"/>
          </a:ln>
          <a:effectLst>
            <a:outerShdw sx="100000" sy="100000" kx="0" ky="0" algn="bl" rotWithShape="0" blurRad="76200" dist="25400" dir="5400000">
              <a:srgbClr val="3A1A0C">
                <a:alpha val="18000"/>
              </a:srgbClr>
            </a:outerShdw>
          </a:effectLst>
        </p:spPr>
      </p:sp>
      <p:sp>
        <p:nvSpPr>
          <p:cNvPr id="21" name="Step 3 circle"/>
          <p:cNvSpPr/>
          <p:nvPr/>
        </p:nvSpPr>
        <p:spPr>
          <a:xfrm>
            <a:off x="5225796" y="3337560"/>
            <a:ext cx="502920" cy="502920"/>
          </a:xfrm>
          <a:prstGeom prst="ellipse">
            <a:avLst/>
          </a:prstGeom>
          <a:solidFill>
            <a:schemeClr val="accent1"/>
          </a:solidFill>
          <a:ln w="12700">
            <a:solidFill>
              <a:schemeClr val="accent2"/>
            </a:solidFill>
            <a:prstDash val="solid"/>
          </a:ln>
        </p:spPr>
      </p:sp>
      <p:pic>
        <p:nvPicPr>
          <p:cNvPr id="22" name="Step 3 icon" descr="preencoded.png">    </p:cNvPr>
          <p:cNvPicPr>
            <a:picLocks noChangeAspect="1"/>
          </p:cNvPicPr>
          <p:nvPr/>
        </p:nvPicPr>
        <p:blipFill>
          <a:blip r:embed="rId3"/>
          <a:stretch>
            <a:fillRect/>
          </a:stretch>
        </p:blipFill>
        <p:spPr>
          <a:xfrm>
            <a:off x="5346497" y="3458261"/>
            <a:ext cx="261518" cy="261518"/>
          </a:xfrm>
          <a:prstGeom prst="rect">
            <a:avLst/>
          </a:prstGeom>
        </p:spPr>
      </p:pic>
      <p:sp>
        <p:nvSpPr>
          <p:cNvPr id="23" name="Step 3 text"/>
          <p:cNvSpPr txBox="1"/>
          <p:nvPr/>
        </p:nvSpPr>
        <p:spPr>
          <a:xfrm>
            <a:off x="5820156" y="3200400"/>
            <a:ext cx="1207008" cy="777240"/>
          </a:xfrm>
          <a:prstGeom prst="rect">
            <a:avLst/>
          </a:prstGeom>
          <a:noFill/>
          <a:ln/>
        </p:spPr>
        <p:txBody>
          <a:bodyPr wrap="square" lIns="0" tIns="0" rIns="0" bIns="0" rtlCol="0" anchor="ctr"/>
          <a:lstStyle/>
          <a:p>
            <a:pPr indent="0" marL="0">
              <a:buNone/>
            </a:pPr>
            <a:r>
              <a:rPr lang="en-US" sz="1400" b="1" dirty="0">
                <a:solidFill>
                  <a:schemeClr val="accent1"/>
                </a:solidFill>
              </a:rPr>
              <a:t>Disambiguate</a:t>
            </a:r>
            <a:endParaRPr lang="en-US" sz="1400" dirty="0"/>
          </a:p>
          <a:p>
            <a:pPr indent="0" marL="0">
              <a:buNone/>
            </a:pPr>
            <a:r>
              <a:rPr lang="en-US" sz="1100" dirty="0">
                <a:solidFill>
                  <a:schemeClr val="tx1"/>
                </a:solidFill>
              </a:rPr>
              <a:t>Progress vs. blocker</a:t>
            </a:r>
            <a:endParaRPr lang="en-US" sz="1400" dirty="0"/>
          </a:p>
        </p:txBody>
      </p:sp>
      <p:sp>
        <p:nvSpPr>
          <p:cNvPr id="24" name="Step arrow 3"/>
          <p:cNvSpPr/>
          <p:nvPr/>
        </p:nvSpPr>
        <p:spPr>
          <a:xfrm>
            <a:off x="7146036" y="3474720"/>
            <a:ext cx="212598" cy="228600"/>
          </a:xfrm>
          <a:prstGeom prst="rightArrow">
            <a:avLst/>
          </a:prstGeom>
          <a:solidFill>
            <a:schemeClr val="accent2"/>
          </a:solidFill>
          <a:ln w="12700">
            <a:solidFill>
              <a:schemeClr val="accent2"/>
            </a:solidFill>
            <a:prstDash val="solid"/>
          </a:ln>
        </p:spPr>
      </p:sp>
      <p:sp>
        <p:nvSpPr>
          <p:cNvPr id="25" name="Step 4 card"/>
          <p:cNvSpPr/>
          <p:nvPr/>
        </p:nvSpPr>
        <p:spPr>
          <a:xfrm>
            <a:off x="7404354" y="3154680"/>
            <a:ext cx="2011680" cy="868680"/>
          </a:xfrm>
          <a:prstGeom prst="roundRect">
            <a:avLst>
              <a:gd name="adj" fmla="val 8421"/>
            </a:avLst>
          </a:prstGeom>
          <a:solidFill>
            <a:schemeClr val="bg1">
              <a:alpha val="75000"/>
            </a:schemeClr>
          </a:solidFill>
          <a:ln w="9525">
            <a:solidFill>
              <a:schemeClr val="accent2"/>
            </a:solidFill>
            <a:prstDash val="solid"/>
          </a:ln>
          <a:effectLst>
            <a:outerShdw sx="100000" sy="100000" kx="0" ky="0" algn="bl" rotWithShape="0" blurRad="76200" dist="25400" dir="5400000">
              <a:srgbClr val="3A1A0C">
                <a:alpha val="18000"/>
              </a:srgbClr>
            </a:outerShdw>
          </a:effectLst>
        </p:spPr>
      </p:sp>
      <p:sp>
        <p:nvSpPr>
          <p:cNvPr id="26" name="Step 4 circle"/>
          <p:cNvSpPr/>
          <p:nvPr/>
        </p:nvSpPr>
        <p:spPr>
          <a:xfrm>
            <a:off x="7541514" y="3337560"/>
            <a:ext cx="502920" cy="502920"/>
          </a:xfrm>
          <a:prstGeom prst="ellipse">
            <a:avLst/>
          </a:prstGeom>
          <a:solidFill>
            <a:schemeClr val="accent1"/>
          </a:solidFill>
          <a:ln w="12700">
            <a:solidFill>
              <a:schemeClr val="accent2"/>
            </a:solidFill>
            <a:prstDash val="solid"/>
          </a:ln>
        </p:spPr>
      </p:sp>
      <p:pic>
        <p:nvPicPr>
          <p:cNvPr id="27" name="Step 4 icon" descr="preencoded.png">    </p:cNvPr>
          <p:cNvPicPr>
            <a:picLocks noChangeAspect="1"/>
          </p:cNvPicPr>
          <p:nvPr/>
        </p:nvPicPr>
        <p:blipFill>
          <a:blip r:embed="rId4"/>
          <a:stretch>
            <a:fillRect/>
          </a:stretch>
        </p:blipFill>
        <p:spPr>
          <a:xfrm>
            <a:off x="7662215" y="3458261"/>
            <a:ext cx="261518" cy="261518"/>
          </a:xfrm>
          <a:prstGeom prst="rect">
            <a:avLst/>
          </a:prstGeom>
        </p:spPr>
      </p:pic>
      <p:sp>
        <p:nvSpPr>
          <p:cNvPr id="28" name="Step 4 text"/>
          <p:cNvSpPr txBox="1"/>
          <p:nvPr/>
        </p:nvSpPr>
        <p:spPr>
          <a:xfrm>
            <a:off x="8135874" y="3200400"/>
            <a:ext cx="1207008" cy="777240"/>
          </a:xfrm>
          <a:prstGeom prst="rect">
            <a:avLst/>
          </a:prstGeom>
          <a:noFill/>
          <a:ln/>
        </p:spPr>
        <p:txBody>
          <a:bodyPr wrap="square" lIns="0" tIns="0" rIns="0" bIns="0" rtlCol="0" anchor="ctr"/>
          <a:lstStyle/>
          <a:p>
            <a:pPr indent="0" marL="0">
              <a:buNone/>
            </a:pPr>
            <a:r>
              <a:rPr lang="en-US" sz="1400" b="1" dirty="0">
                <a:solidFill>
                  <a:schemeClr val="accent1"/>
                </a:solidFill>
              </a:rPr>
              <a:t>Relay</a:t>
            </a:r>
            <a:endParaRPr lang="en-US" sz="1400" dirty="0"/>
          </a:p>
          <a:p>
            <a:pPr indent="0" marL="0">
              <a:buNone/>
            </a:pPr>
            <a:r>
              <a:rPr lang="en-US" sz="1100" dirty="0">
                <a:solidFill>
                  <a:schemeClr val="tx1"/>
                </a:solidFill>
              </a:rPr>
              <a:t>Ping who can unblock</a:t>
            </a:r>
            <a:endParaRPr lang="en-US" sz="1400" dirty="0"/>
          </a:p>
        </p:txBody>
      </p:sp>
      <p:sp>
        <p:nvSpPr>
          <p:cNvPr id="29" name="Step arrow 4"/>
          <p:cNvSpPr/>
          <p:nvPr/>
        </p:nvSpPr>
        <p:spPr>
          <a:xfrm>
            <a:off x="9461754" y="3474720"/>
            <a:ext cx="212598" cy="228600"/>
          </a:xfrm>
          <a:prstGeom prst="rightArrow">
            <a:avLst/>
          </a:prstGeom>
          <a:solidFill>
            <a:schemeClr val="accent2"/>
          </a:solidFill>
          <a:ln w="12700">
            <a:solidFill>
              <a:schemeClr val="accent2"/>
            </a:solidFill>
            <a:prstDash val="solid"/>
          </a:ln>
        </p:spPr>
      </p:sp>
      <p:sp>
        <p:nvSpPr>
          <p:cNvPr id="30" name="Step 5 card"/>
          <p:cNvSpPr/>
          <p:nvPr/>
        </p:nvSpPr>
        <p:spPr>
          <a:xfrm>
            <a:off x="9720072" y="3154680"/>
            <a:ext cx="2011680" cy="868680"/>
          </a:xfrm>
          <a:prstGeom prst="roundRect">
            <a:avLst>
              <a:gd name="adj" fmla="val 8421"/>
            </a:avLst>
          </a:prstGeom>
          <a:solidFill>
            <a:schemeClr val="bg1">
              <a:alpha val="75000"/>
            </a:schemeClr>
          </a:solidFill>
          <a:ln w="9525">
            <a:solidFill>
              <a:schemeClr val="accent2"/>
            </a:solidFill>
            <a:prstDash val="solid"/>
          </a:ln>
          <a:effectLst>
            <a:outerShdw sx="100000" sy="100000" kx="0" ky="0" algn="bl" rotWithShape="0" blurRad="76200" dist="25400" dir="5400000">
              <a:srgbClr val="3A1A0C">
                <a:alpha val="18000"/>
              </a:srgbClr>
            </a:outerShdw>
          </a:effectLst>
        </p:spPr>
      </p:sp>
      <p:sp>
        <p:nvSpPr>
          <p:cNvPr id="31" name="Step 5 circle"/>
          <p:cNvSpPr/>
          <p:nvPr/>
        </p:nvSpPr>
        <p:spPr>
          <a:xfrm>
            <a:off x="9857232" y="3337560"/>
            <a:ext cx="502920" cy="502920"/>
          </a:xfrm>
          <a:prstGeom prst="ellipse">
            <a:avLst/>
          </a:prstGeom>
          <a:solidFill>
            <a:schemeClr val="accent1"/>
          </a:solidFill>
          <a:ln w="12700">
            <a:solidFill>
              <a:schemeClr val="accent2"/>
            </a:solidFill>
            <a:prstDash val="solid"/>
          </a:ln>
        </p:spPr>
      </p:sp>
      <p:pic>
        <p:nvPicPr>
          <p:cNvPr id="32" name="Step 5 icon" descr="preencoded.png">    </p:cNvPr>
          <p:cNvPicPr>
            <a:picLocks noChangeAspect="1"/>
          </p:cNvPicPr>
          <p:nvPr/>
        </p:nvPicPr>
        <p:blipFill>
          <a:blip r:embed="rId5"/>
          <a:stretch>
            <a:fillRect/>
          </a:stretch>
        </p:blipFill>
        <p:spPr>
          <a:xfrm>
            <a:off x="9977933" y="3458261"/>
            <a:ext cx="261518" cy="261518"/>
          </a:xfrm>
          <a:prstGeom prst="rect">
            <a:avLst/>
          </a:prstGeom>
        </p:spPr>
      </p:pic>
      <p:sp>
        <p:nvSpPr>
          <p:cNvPr id="33" name="Step 5 text"/>
          <p:cNvSpPr txBox="1"/>
          <p:nvPr/>
        </p:nvSpPr>
        <p:spPr>
          <a:xfrm>
            <a:off x="10451592" y="3200400"/>
            <a:ext cx="1207008" cy="777240"/>
          </a:xfrm>
          <a:prstGeom prst="rect">
            <a:avLst/>
          </a:prstGeom>
          <a:noFill/>
          <a:ln/>
        </p:spPr>
        <p:txBody>
          <a:bodyPr wrap="square" lIns="0" tIns="0" rIns="0" bIns="0" rtlCol="0" anchor="ctr"/>
          <a:lstStyle/>
          <a:p>
            <a:pPr indent="0" marL="0">
              <a:buNone/>
            </a:pPr>
            <a:r>
              <a:rPr lang="en-US" sz="1400" b="1" dirty="0">
                <a:solidFill>
                  <a:schemeClr val="accent1"/>
                </a:solidFill>
              </a:rPr>
              <a:t>Update</a:t>
            </a:r>
            <a:endParaRPr lang="en-US" sz="1400" dirty="0"/>
          </a:p>
          <a:p>
            <a:pPr indent="0" marL="0">
              <a:buNone/>
            </a:pPr>
            <a:r>
              <a:rPr lang="en-US" sz="1100" dirty="0">
                <a:solidFill>
                  <a:schemeClr val="tx1"/>
                </a:solidFill>
              </a:rPr>
              <a:t>Live on every screen</a:t>
            </a:r>
            <a:endParaRPr lang="en-US" sz="1400" dirty="0"/>
          </a:p>
        </p:txBody>
      </p:sp>
      <p:sp>
        <p:nvSpPr>
          <p:cNvPr id="34" name="Prototype label"/>
          <p:cNvSpPr txBox="1"/>
          <p:nvPr/>
        </p:nvSpPr>
        <p:spPr>
          <a:xfrm>
            <a:off x="457200" y="4224528"/>
            <a:ext cx="5486400" cy="292608"/>
          </a:xfrm>
          <a:prstGeom prst="rect">
            <a:avLst/>
          </a:prstGeom>
          <a:noFill/>
          <a:ln/>
        </p:spPr>
        <p:txBody>
          <a:bodyPr wrap="square" lIns="0" tIns="0" rIns="0" bIns="0" rtlCol="0" anchor="ctr"/>
          <a:lstStyle/>
          <a:p>
            <a:pPr indent="0" marL="0">
              <a:buNone/>
            </a:pPr>
            <a:r>
              <a:rPr lang="en-US" sz="1400" b="1" spc="100" kern="0" dirty="0">
                <a:solidFill>
                  <a:schemeClr val="accent1"/>
                </a:solidFill>
                <a:latin typeface="Bookman Old Style" pitchFamily="34" charset="0"/>
                <a:ea typeface="Bookman Old Style" pitchFamily="34" charset="-122"/>
                <a:cs typeface="Bookman Old Style" pitchFamily="34" charset="-120"/>
              </a:rPr>
              <a:t>WORKING PROTOTYPE</a:t>
            </a:r>
            <a:endParaRPr lang="en-US" sz="1400" dirty="0"/>
          </a:p>
        </p:txBody>
      </p:sp>
      <p:sp>
        <p:nvSpPr>
          <p:cNvPr id="35" name="Prototype 1 card"/>
          <p:cNvSpPr/>
          <p:nvPr/>
        </p:nvSpPr>
        <p:spPr>
          <a:xfrm>
            <a:off x="457200" y="4572000"/>
            <a:ext cx="2651760" cy="1737360"/>
          </a:xfrm>
          <a:prstGeom prst="roundRect">
            <a:avLst>
              <a:gd name="adj" fmla="val 4211"/>
            </a:avLst>
          </a:prstGeom>
          <a:solidFill>
            <a:schemeClr val="bg1">
              <a:alpha val="75000"/>
            </a:schemeClr>
          </a:solidFill>
          <a:ln w="9525">
            <a:solidFill>
              <a:schemeClr val="accent2"/>
            </a:solidFill>
            <a:prstDash val="solid"/>
          </a:ln>
          <a:effectLst>
            <a:outerShdw sx="100000" sy="100000" kx="0" ky="0" algn="bl" rotWithShape="0" blurRad="76200" dist="25400" dir="5400000">
              <a:srgbClr val="3A1A0C">
                <a:alpha val="18000"/>
              </a:srgbClr>
            </a:outerShdw>
          </a:effectLst>
        </p:spPr>
      </p:sp>
      <p:sp>
        <p:nvSpPr>
          <p:cNvPr id="36" name="Prototype 1 circle"/>
          <p:cNvSpPr/>
          <p:nvPr/>
        </p:nvSpPr>
        <p:spPr>
          <a:xfrm>
            <a:off x="640080" y="4709160"/>
            <a:ext cx="502920" cy="502920"/>
          </a:xfrm>
          <a:prstGeom prst="ellipse">
            <a:avLst/>
          </a:prstGeom>
          <a:solidFill>
            <a:schemeClr val="accent1"/>
          </a:solidFill>
          <a:ln w="12700">
            <a:solidFill>
              <a:schemeClr val="accent2"/>
            </a:solidFill>
            <a:prstDash val="solid"/>
          </a:ln>
        </p:spPr>
      </p:sp>
      <p:pic>
        <p:nvPicPr>
          <p:cNvPr id="37" name="Prototype 1 icon" descr="preencoded.png">    </p:cNvPr>
          <p:cNvPicPr>
            <a:picLocks noChangeAspect="1"/>
          </p:cNvPicPr>
          <p:nvPr/>
        </p:nvPicPr>
        <p:blipFill>
          <a:blip r:embed="rId6"/>
          <a:stretch>
            <a:fillRect/>
          </a:stretch>
        </p:blipFill>
        <p:spPr>
          <a:xfrm>
            <a:off x="760781" y="4829861"/>
            <a:ext cx="261518" cy="261518"/>
          </a:xfrm>
          <a:prstGeom prst="rect">
            <a:avLst/>
          </a:prstGeom>
        </p:spPr>
      </p:pic>
      <p:sp>
        <p:nvSpPr>
          <p:cNvPr id="38" name="Prototype 1 title"/>
          <p:cNvSpPr txBox="1"/>
          <p:nvPr/>
        </p:nvSpPr>
        <p:spPr>
          <a:xfrm>
            <a:off x="1261872" y="4709160"/>
            <a:ext cx="1737360" cy="502920"/>
          </a:xfrm>
          <a:prstGeom prst="rect">
            <a:avLst/>
          </a:prstGeom>
          <a:noFill/>
          <a:ln/>
        </p:spPr>
        <p:txBody>
          <a:bodyPr wrap="square" lIns="0" tIns="0" rIns="0" bIns="0" rtlCol="0" anchor="ctr"/>
          <a:lstStyle/>
          <a:p>
            <a:pPr indent="0" marL="0">
              <a:buNone/>
            </a:pPr>
            <a:r>
              <a:rPr lang="en-US" sz="1400" b="1" dirty="0">
                <a:solidFill>
                  <a:schemeClr val="accent1"/>
                </a:solidFill>
              </a:rPr>
              <a:t>Desktop dashboard</a:t>
            </a:r>
            <a:endParaRPr lang="en-US" sz="1400" dirty="0"/>
          </a:p>
        </p:txBody>
      </p:sp>
      <p:sp>
        <p:nvSpPr>
          <p:cNvPr id="39" name="Prototype 1 text"/>
          <p:cNvSpPr txBox="1"/>
          <p:nvPr/>
        </p:nvSpPr>
        <p:spPr>
          <a:xfrm>
            <a:off x="640080" y="5303520"/>
            <a:ext cx="2286000" cy="914400"/>
          </a:xfrm>
          <a:prstGeom prst="rect">
            <a:avLst/>
          </a:prstGeom>
          <a:noFill/>
          <a:ln/>
        </p:spPr>
        <p:txBody>
          <a:bodyPr wrap="square" lIns="0" tIns="0" rIns="0" bIns="0" rtlCol="0" anchor="t"/>
          <a:lstStyle/>
          <a:p>
            <a:pPr indent="0" marL="0">
              <a:buNone/>
            </a:pPr>
            <a:r>
              <a:rPr lang="en-US" sz="1300" dirty="0">
                <a:solidFill>
                  <a:schemeClr val="tx1"/>
                </a:solidFill>
              </a:rPr>
              <a:t>Tasks, dependency flow and the coordinator feed, updated live</a:t>
            </a:r>
            <a:endParaRPr lang="en-US" sz="1300" dirty="0"/>
          </a:p>
        </p:txBody>
      </p:sp>
      <p:sp>
        <p:nvSpPr>
          <p:cNvPr id="40" name="Prototype 2 card"/>
          <p:cNvSpPr/>
          <p:nvPr/>
        </p:nvSpPr>
        <p:spPr>
          <a:xfrm>
            <a:off x="3331464" y="4572000"/>
            <a:ext cx="2651760" cy="1737360"/>
          </a:xfrm>
          <a:prstGeom prst="roundRect">
            <a:avLst>
              <a:gd name="adj" fmla="val 4211"/>
            </a:avLst>
          </a:prstGeom>
          <a:solidFill>
            <a:schemeClr val="bg1">
              <a:alpha val="75000"/>
            </a:schemeClr>
          </a:solidFill>
          <a:ln w="9525">
            <a:solidFill>
              <a:schemeClr val="accent2"/>
            </a:solidFill>
            <a:prstDash val="solid"/>
          </a:ln>
          <a:effectLst>
            <a:outerShdw sx="100000" sy="100000" kx="0" ky="0" algn="bl" rotWithShape="0" blurRad="76200" dist="25400" dir="5400000">
              <a:srgbClr val="3A1A0C">
                <a:alpha val="18000"/>
              </a:srgbClr>
            </a:outerShdw>
          </a:effectLst>
        </p:spPr>
      </p:sp>
      <p:sp>
        <p:nvSpPr>
          <p:cNvPr id="41" name="Prototype 2 circle"/>
          <p:cNvSpPr/>
          <p:nvPr/>
        </p:nvSpPr>
        <p:spPr>
          <a:xfrm>
            <a:off x="3514344" y="4709160"/>
            <a:ext cx="502920" cy="502920"/>
          </a:xfrm>
          <a:prstGeom prst="ellipse">
            <a:avLst/>
          </a:prstGeom>
          <a:solidFill>
            <a:schemeClr val="accent1"/>
          </a:solidFill>
          <a:ln w="12700">
            <a:solidFill>
              <a:schemeClr val="accent2"/>
            </a:solidFill>
            <a:prstDash val="solid"/>
          </a:ln>
        </p:spPr>
      </p:sp>
      <p:pic>
        <p:nvPicPr>
          <p:cNvPr id="42" name="Prototype 2 icon" descr="preencoded.png">    </p:cNvPr>
          <p:cNvPicPr>
            <a:picLocks noChangeAspect="1"/>
          </p:cNvPicPr>
          <p:nvPr/>
        </p:nvPicPr>
        <p:blipFill>
          <a:blip r:embed="rId7"/>
          <a:stretch>
            <a:fillRect/>
          </a:stretch>
        </p:blipFill>
        <p:spPr>
          <a:xfrm>
            <a:off x="3635045" y="4829861"/>
            <a:ext cx="261518" cy="261518"/>
          </a:xfrm>
          <a:prstGeom prst="rect">
            <a:avLst/>
          </a:prstGeom>
        </p:spPr>
      </p:pic>
      <p:sp>
        <p:nvSpPr>
          <p:cNvPr id="43" name="Prototype 2 title"/>
          <p:cNvSpPr txBox="1"/>
          <p:nvPr/>
        </p:nvSpPr>
        <p:spPr>
          <a:xfrm>
            <a:off x="4136136" y="4709160"/>
            <a:ext cx="1737360" cy="502920"/>
          </a:xfrm>
          <a:prstGeom prst="rect">
            <a:avLst/>
          </a:prstGeom>
          <a:noFill/>
          <a:ln/>
        </p:spPr>
        <p:txBody>
          <a:bodyPr wrap="square" lIns="0" tIns="0" rIns="0" bIns="0" rtlCol="0" anchor="ctr"/>
          <a:lstStyle/>
          <a:p>
            <a:pPr indent="0" marL="0">
              <a:buNone/>
            </a:pPr>
            <a:r>
              <a:rPr lang="en-US" sz="1400" b="1" dirty="0">
                <a:solidFill>
                  <a:schemeClr val="accent1"/>
                </a:solidFill>
              </a:rPr>
              <a:t>Android companion</a:t>
            </a:r>
            <a:endParaRPr lang="en-US" sz="1400" dirty="0"/>
          </a:p>
        </p:txBody>
      </p:sp>
      <p:sp>
        <p:nvSpPr>
          <p:cNvPr id="44" name="Prototype 2 text"/>
          <p:cNvSpPr txBox="1"/>
          <p:nvPr/>
        </p:nvSpPr>
        <p:spPr>
          <a:xfrm>
            <a:off x="3514344" y="5303520"/>
            <a:ext cx="2286000" cy="914400"/>
          </a:xfrm>
          <a:prstGeom prst="rect">
            <a:avLst/>
          </a:prstGeom>
          <a:noFill/>
          <a:ln/>
        </p:spPr>
        <p:txBody>
          <a:bodyPr wrap="square" lIns="0" tIns="0" rIns="0" bIns="0" rtlCol="0" anchor="t"/>
          <a:lstStyle/>
          <a:p>
            <a:pPr indent="0" marL="0">
              <a:buNone/>
            </a:pPr>
            <a:r>
              <a:rPr lang="en-US" sz="1300" dirty="0">
                <a:solidFill>
                  <a:schemeClr val="tx1"/>
                </a:solidFill>
              </a:rPr>
              <a:t>Installable app with voice updates and one-tap unblock</a:t>
            </a:r>
            <a:endParaRPr lang="en-US" sz="1300" dirty="0"/>
          </a:p>
        </p:txBody>
      </p:sp>
      <p:sp>
        <p:nvSpPr>
          <p:cNvPr id="45" name="Prototype 3 card"/>
          <p:cNvSpPr/>
          <p:nvPr/>
        </p:nvSpPr>
        <p:spPr>
          <a:xfrm>
            <a:off x="6205728" y="4572000"/>
            <a:ext cx="2651760" cy="1737360"/>
          </a:xfrm>
          <a:prstGeom prst="roundRect">
            <a:avLst>
              <a:gd name="adj" fmla="val 4211"/>
            </a:avLst>
          </a:prstGeom>
          <a:solidFill>
            <a:schemeClr val="bg1">
              <a:alpha val="75000"/>
            </a:schemeClr>
          </a:solidFill>
          <a:ln w="9525">
            <a:solidFill>
              <a:schemeClr val="accent2"/>
            </a:solidFill>
            <a:prstDash val="solid"/>
          </a:ln>
          <a:effectLst>
            <a:outerShdw sx="100000" sy="100000" kx="0" ky="0" algn="bl" rotWithShape="0" blurRad="76200" dist="25400" dir="5400000">
              <a:srgbClr val="3A1A0C">
                <a:alpha val="18000"/>
              </a:srgbClr>
            </a:outerShdw>
          </a:effectLst>
        </p:spPr>
      </p:sp>
      <p:sp>
        <p:nvSpPr>
          <p:cNvPr id="46" name="Prototype 3 circle"/>
          <p:cNvSpPr/>
          <p:nvPr/>
        </p:nvSpPr>
        <p:spPr>
          <a:xfrm>
            <a:off x="6388608" y="4709160"/>
            <a:ext cx="502920" cy="502920"/>
          </a:xfrm>
          <a:prstGeom prst="ellipse">
            <a:avLst/>
          </a:prstGeom>
          <a:solidFill>
            <a:schemeClr val="accent1"/>
          </a:solidFill>
          <a:ln w="12700">
            <a:solidFill>
              <a:schemeClr val="accent2"/>
            </a:solidFill>
            <a:prstDash val="solid"/>
          </a:ln>
        </p:spPr>
      </p:sp>
      <p:pic>
        <p:nvPicPr>
          <p:cNvPr id="47" name="Prototype 3 icon" descr="preencoded.png">    </p:cNvPr>
          <p:cNvPicPr>
            <a:picLocks noChangeAspect="1"/>
          </p:cNvPicPr>
          <p:nvPr/>
        </p:nvPicPr>
        <p:blipFill>
          <a:blip r:embed="rId8"/>
          <a:stretch>
            <a:fillRect/>
          </a:stretch>
        </p:blipFill>
        <p:spPr>
          <a:xfrm>
            <a:off x="6509309" y="4829861"/>
            <a:ext cx="261518" cy="261518"/>
          </a:xfrm>
          <a:prstGeom prst="rect">
            <a:avLst/>
          </a:prstGeom>
        </p:spPr>
      </p:pic>
      <p:sp>
        <p:nvSpPr>
          <p:cNvPr id="48" name="Prototype 3 title"/>
          <p:cNvSpPr txBox="1"/>
          <p:nvPr/>
        </p:nvSpPr>
        <p:spPr>
          <a:xfrm>
            <a:off x="7010400" y="4709160"/>
            <a:ext cx="1737360" cy="502920"/>
          </a:xfrm>
          <a:prstGeom prst="rect">
            <a:avLst/>
          </a:prstGeom>
          <a:noFill/>
          <a:ln/>
        </p:spPr>
        <p:txBody>
          <a:bodyPr wrap="square" lIns="0" tIns="0" rIns="0" bIns="0" rtlCol="0" anchor="ctr"/>
          <a:lstStyle/>
          <a:p>
            <a:pPr indent="0" marL="0">
              <a:buNone/>
            </a:pPr>
            <a:r>
              <a:rPr lang="en-US" sz="1400" b="1" dirty="0">
                <a:solidFill>
                  <a:schemeClr val="accent1"/>
                </a:solidFill>
              </a:rPr>
              <a:t>Telegram bot</a:t>
            </a:r>
            <a:endParaRPr lang="en-US" sz="1400" dirty="0"/>
          </a:p>
        </p:txBody>
      </p:sp>
      <p:sp>
        <p:nvSpPr>
          <p:cNvPr id="49" name="Prototype 3 text"/>
          <p:cNvSpPr txBox="1"/>
          <p:nvPr/>
        </p:nvSpPr>
        <p:spPr>
          <a:xfrm>
            <a:off x="6388608" y="5303520"/>
            <a:ext cx="2286000" cy="914400"/>
          </a:xfrm>
          <a:prstGeom prst="rect">
            <a:avLst/>
          </a:prstGeom>
          <a:noFill/>
          <a:ln/>
        </p:spPr>
        <p:txBody>
          <a:bodyPr wrap="square" lIns="0" tIns="0" rIns="0" bIns="0" rtlCol="0" anchor="t"/>
          <a:lstStyle/>
          <a:p>
            <a:pPr indent="0" marL="0">
              <a:buNone/>
            </a:pPr>
            <a:r>
              <a:rPr lang="en-US" sz="1300" dirty="0">
                <a:solidFill>
                  <a:schemeClr val="tx1"/>
                </a:solidFill>
              </a:rPr>
              <a:t>Check-ins and natural-language replies on any phone</a:t>
            </a:r>
            <a:endParaRPr lang="en-US" sz="1300" dirty="0"/>
          </a:p>
        </p:txBody>
      </p:sp>
      <p:sp>
        <p:nvSpPr>
          <p:cNvPr id="50" name="Prototype 4 card"/>
          <p:cNvSpPr/>
          <p:nvPr/>
        </p:nvSpPr>
        <p:spPr>
          <a:xfrm>
            <a:off x="9079992" y="4572000"/>
            <a:ext cx="2651760" cy="1737360"/>
          </a:xfrm>
          <a:prstGeom prst="roundRect">
            <a:avLst>
              <a:gd name="adj" fmla="val 4211"/>
            </a:avLst>
          </a:prstGeom>
          <a:solidFill>
            <a:schemeClr val="bg1">
              <a:alpha val="75000"/>
            </a:schemeClr>
          </a:solidFill>
          <a:ln w="9525">
            <a:solidFill>
              <a:schemeClr val="accent2"/>
            </a:solidFill>
            <a:prstDash val="solid"/>
          </a:ln>
          <a:effectLst>
            <a:outerShdw sx="100000" sy="100000" kx="0" ky="0" algn="bl" rotWithShape="0" blurRad="76200" dist="25400" dir="5400000">
              <a:srgbClr val="3A1A0C">
                <a:alpha val="18000"/>
              </a:srgbClr>
            </a:outerShdw>
          </a:effectLst>
        </p:spPr>
      </p:sp>
      <p:sp>
        <p:nvSpPr>
          <p:cNvPr id="51" name="Prototype 4 circle"/>
          <p:cNvSpPr/>
          <p:nvPr/>
        </p:nvSpPr>
        <p:spPr>
          <a:xfrm>
            <a:off x="9262872" y="4709160"/>
            <a:ext cx="502920" cy="502920"/>
          </a:xfrm>
          <a:prstGeom prst="ellipse">
            <a:avLst/>
          </a:prstGeom>
          <a:solidFill>
            <a:schemeClr val="accent1"/>
          </a:solidFill>
          <a:ln w="12700">
            <a:solidFill>
              <a:schemeClr val="accent2"/>
            </a:solidFill>
            <a:prstDash val="solid"/>
          </a:ln>
        </p:spPr>
      </p:sp>
      <p:pic>
        <p:nvPicPr>
          <p:cNvPr id="52" name="Prototype 4 icon" descr="preencoded.png">    </p:cNvPr>
          <p:cNvPicPr>
            <a:picLocks noChangeAspect="1"/>
          </p:cNvPicPr>
          <p:nvPr/>
        </p:nvPicPr>
        <p:blipFill>
          <a:blip r:embed="rId9"/>
          <a:stretch>
            <a:fillRect/>
          </a:stretch>
        </p:blipFill>
        <p:spPr>
          <a:xfrm>
            <a:off x="9383573" y="4829861"/>
            <a:ext cx="261518" cy="261518"/>
          </a:xfrm>
          <a:prstGeom prst="rect">
            <a:avLst/>
          </a:prstGeom>
        </p:spPr>
      </p:pic>
      <p:sp>
        <p:nvSpPr>
          <p:cNvPr id="53" name="Prototype 4 title"/>
          <p:cNvSpPr txBox="1"/>
          <p:nvPr/>
        </p:nvSpPr>
        <p:spPr>
          <a:xfrm>
            <a:off x="9884664" y="4709160"/>
            <a:ext cx="1737360" cy="502920"/>
          </a:xfrm>
          <a:prstGeom prst="rect">
            <a:avLst/>
          </a:prstGeom>
          <a:noFill/>
          <a:ln/>
        </p:spPr>
        <p:txBody>
          <a:bodyPr wrap="square" lIns="0" tIns="0" rIns="0" bIns="0" rtlCol="0" anchor="ctr"/>
          <a:lstStyle/>
          <a:p>
            <a:pPr indent="0" marL="0">
              <a:buNone/>
            </a:pPr>
            <a:r>
              <a:rPr lang="en-US" sz="1400" b="1" dirty="0">
                <a:solidFill>
                  <a:schemeClr val="accent1"/>
                </a:solidFill>
              </a:rPr>
              <a:t>GitHub commits</a:t>
            </a:r>
            <a:endParaRPr lang="en-US" sz="1400" dirty="0"/>
          </a:p>
        </p:txBody>
      </p:sp>
      <p:sp>
        <p:nvSpPr>
          <p:cNvPr id="54" name="Prototype 4 text"/>
          <p:cNvSpPr txBox="1"/>
          <p:nvPr/>
        </p:nvSpPr>
        <p:spPr>
          <a:xfrm>
            <a:off x="9262872" y="5303520"/>
            <a:ext cx="2286000" cy="914400"/>
          </a:xfrm>
          <a:prstGeom prst="rect">
            <a:avLst/>
          </a:prstGeom>
          <a:noFill/>
          <a:ln/>
        </p:spPr>
        <p:txBody>
          <a:bodyPr wrap="square" lIns="0" tIns="0" rIns="0" bIns="0" rtlCol="0" anchor="t"/>
          <a:lstStyle/>
          <a:p>
            <a:pPr indent="0" marL="0">
              <a:buNone/>
            </a:pPr>
            <a:r>
              <a:rPr lang="en-US" sz="1300" dirty="0">
                <a:solidFill>
                  <a:schemeClr val="tx1"/>
                </a:solidFill>
              </a:rPr>
              <a:t>Commit messages update the board and prove the work</a:t>
            </a:r>
            <a:endParaRPr lang="en-US" sz="1300" dirty="0"/>
          </a:p>
        </p:txBody>
      </p:sp>
      <p:sp>
        <p:nvSpPr>
          <p:cNvPr id="55" name="Page number"/>
          <p:cNvSpPr txBox="1"/>
          <p:nvPr/>
        </p:nvSpPr>
        <p:spPr>
          <a:xfrm>
            <a:off x="11155680" y="6601968"/>
            <a:ext cx="457200" cy="256032"/>
          </a:xfrm>
          <a:prstGeom prst="rect">
            <a:avLst/>
          </a:prstGeom>
          <a:noFill/>
          <a:ln/>
        </p:spPr>
        <p:txBody>
          <a:bodyPr wrap="square" lIns="0" tIns="0" rIns="0" bIns="0" rtlCol="0" anchor="ctr"/>
          <a:lstStyle/>
          <a:p>
            <a:pPr algn="r" indent="0" marL="0">
              <a:buNone/>
            </a:pPr>
            <a:r>
              <a:rPr lang="en-US" sz="1400" b="1" dirty="0">
                <a:solidFill>
                  <a:schemeClr val="accent5"/>
                </a:solidFill>
                <a:latin typeface="Bookman Old Style" pitchFamily="34" charset="0"/>
                <a:ea typeface="Bookman Old Style" pitchFamily="34" charset="-122"/>
                <a:cs typeface="Bookman Old Style" pitchFamily="34" charset="-120"/>
              </a:rPr>
              <a:t>01</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1371600" y="256032"/>
            <a:ext cx="7955280" cy="502920"/>
          </a:xfrm>
          <a:prstGeom prst="rect">
            <a:avLst/>
          </a:prstGeom>
          <a:noFill/>
          <a:ln/>
        </p:spPr>
        <p:txBody>
          <a:bodyPr wrap="square" lIns="0" tIns="0" rIns="0" bIns="0" rtlCol="0" anchor="ctr"/>
          <a:lstStyle/>
          <a:p>
            <a:pPr algn="ctr" indent="0" marL="0">
              <a:buNone/>
            </a:pPr>
            <a:r>
              <a:rPr lang="en-US" sz="2400" b="1" dirty="0">
                <a:solidFill>
                  <a:schemeClr val="accent5"/>
                </a:solidFill>
                <a:latin typeface="Bookman Old Style" pitchFamily="34" charset="0"/>
                <a:ea typeface="Bookman Old Style" pitchFamily="34" charset="-122"/>
                <a:cs typeface="Bookman Old Style" pitchFamily="34" charset="-120"/>
              </a:rPr>
              <a:t>TECHNICAL APPROACH</a:t>
            </a:r>
            <a:endParaRPr lang="en-US" sz="2400" dirty="0"/>
          </a:p>
        </p:txBody>
      </p:sp>
      <p:sp>
        <p:nvSpPr>
          <p:cNvPr id="3" name="Architecture label"/>
          <p:cNvSpPr txBox="1"/>
          <p:nvPr/>
        </p:nvSpPr>
        <p:spPr>
          <a:xfrm>
            <a:off x="457200" y="1170432"/>
            <a:ext cx="5486400" cy="292608"/>
          </a:xfrm>
          <a:prstGeom prst="rect">
            <a:avLst/>
          </a:prstGeom>
          <a:noFill/>
          <a:ln/>
        </p:spPr>
        <p:txBody>
          <a:bodyPr wrap="square" lIns="0" tIns="0" rIns="0" bIns="0" rtlCol="0" anchor="ctr"/>
          <a:lstStyle/>
          <a:p>
            <a:pPr indent="0" marL="0">
              <a:buNone/>
            </a:pPr>
            <a:r>
              <a:rPr lang="en-US" sz="1400" b="1" spc="100" kern="0" dirty="0">
                <a:solidFill>
                  <a:schemeClr val="accent1"/>
                </a:solidFill>
                <a:latin typeface="Bookman Old Style" pitchFamily="34" charset="0"/>
                <a:ea typeface="Bookman Old Style" pitchFamily="34" charset="-122"/>
                <a:cs typeface="Bookman Old Style" pitchFamily="34" charset="-120"/>
              </a:rPr>
              <a:t>ARCHITECTURE</a:t>
            </a:r>
            <a:endParaRPr lang="en-US" sz="1400" dirty="0"/>
          </a:p>
        </p:txBody>
      </p:sp>
      <p:sp>
        <p:nvSpPr>
          <p:cNvPr id="4" name="Channel 1 chip"/>
          <p:cNvSpPr/>
          <p:nvPr/>
        </p:nvSpPr>
        <p:spPr>
          <a:xfrm>
            <a:off x="457200" y="1508760"/>
            <a:ext cx="1600200" cy="502920"/>
          </a:xfrm>
          <a:prstGeom prst="roundRect">
            <a:avLst>
              <a:gd name="adj" fmla="val 14545"/>
            </a:avLst>
          </a:prstGeom>
          <a:solidFill>
            <a:schemeClr val="bg1">
              <a:alpha val="75000"/>
            </a:schemeClr>
          </a:solidFill>
          <a:ln w="9525">
            <a:solidFill>
              <a:schemeClr val="accent2"/>
            </a:solidFill>
            <a:prstDash val="solid"/>
          </a:ln>
          <a:effectLst>
            <a:outerShdw sx="100000" sy="100000" kx="0" ky="0" algn="bl" rotWithShape="0" blurRad="76200" dist="25400" dir="5400000">
              <a:srgbClr val="3A1A0C">
                <a:alpha val="18000"/>
              </a:srgbClr>
            </a:outerShdw>
          </a:effectLst>
        </p:spPr>
      </p:sp>
      <p:pic>
        <p:nvPicPr>
          <p:cNvPr id="5" name="Channel 1 icon" descr="preencoded.png">    </p:cNvPr>
          <p:cNvPicPr>
            <a:picLocks noChangeAspect="1"/>
          </p:cNvPicPr>
          <p:nvPr/>
        </p:nvPicPr>
        <p:blipFill>
          <a:blip r:embed="rId1"/>
          <a:stretch>
            <a:fillRect/>
          </a:stretch>
        </p:blipFill>
        <p:spPr>
          <a:xfrm>
            <a:off x="594360" y="1618488"/>
            <a:ext cx="274320" cy="274320"/>
          </a:xfrm>
          <a:prstGeom prst="rect">
            <a:avLst/>
          </a:prstGeom>
        </p:spPr>
      </p:pic>
      <p:sp>
        <p:nvSpPr>
          <p:cNvPr id="6" name="Channel 1 text"/>
          <p:cNvSpPr txBox="1"/>
          <p:nvPr/>
        </p:nvSpPr>
        <p:spPr>
          <a:xfrm>
            <a:off x="932688" y="1508760"/>
            <a:ext cx="1051560" cy="502920"/>
          </a:xfrm>
          <a:prstGeom prst="rect">
            <a:avLst/>
          </a:prstGeom>
          <a:noFill/>
          <a:ln/>
        </p:spPr>
        <p:txBody>
          <a:bodyPr wrap="square" lIns="0" tIns="0" rIns="0" bIns="0" rtlCol="0" anchor="ctr"/>
          <a:lstStyle/>
          <a:p>
            <a:pPr indent="0" marL="0">
              <a:buNone/>
            </a:pPr>
            <a:r>
              <a:rPr lang="en-US" sz="1300" b="1" dirty="0">
                <a:solidFill>
                  <a:schemeClr val="accent1"/>
                </a:solidFill>
              </a:rPr>
              <a:t>Telegram</a:t>
            </a:r>
            <a:endParaRPr lang="en-US" sz="1300" dirty="0"/>
          </a:p>
        </p:txBody>
      </p:sp>
      <p:sp>
        <p:nvSpPr>
          <p:cNvPr id="7" name="Channel 2 chip"/>
          <p:cNvSpPr/>
          <p:nvPr/>
        </p:nvSpPr>
        <p:spPr>
          <a:xfrm>
            <a:off x="2240280" y="1508760"/>
            <a:ext cx="1600200" cy="502920"/>
          </a:xfrm>
          <a:prstGeom prst="roundRect">
            <a:avLst>
              <a:gd name="adj" fmla="val 14545"/>
            </a:avLst>
          </a:prstGeom>
          <a:solidFill>
            <a:schemeClr val="bg1">
              <a:alpha val="75000"/>
            </a:schemeClr>
          </a:solidFill>
          <a:ln w="9525">
            <a:solidFill>
              <a:schemeClr val="accent2"/>
            </a:solidFill>
            <a:prstDash val="solid"/>
          </a:ln>
          <a:effectLst>
            <a:outerShdw sx="100000" sy="100000" kx="0" ky="0" algn="bl" rotWithShape="0" blurRad="76200" dist="25400" dir="5400000">
              <a:srgbClr val="3A1A0C">
                <a:alpha val="18000"/>
              </a:srgbClr>
            </a:outerShdw>
          </a:effectLst>
        </p:spPr>
      </p:sp>
      <p:pic>
        <p:nvPicPr>
          <p:cNvPr id="8" name="Channel 2 icon" descr="preencoded.png">    </p:cNvPr>
          <p:cNvPicPr>
            <a:picLocks noChangeAspect="1"/>
          </p:cNvPicPr>
          <p:nvPr/>
        </p:nvPicPr>
        <p:blipFill>
          <a:blip r:embed="rId2"/>
          <a:stretch>
            <a:fillRect/>
          </a:stretch>
        </p:blipFill>
        <p:spPr>
          <a:xfrm>
            <a:off x="2377440" y="1618488"/>
            <a:ext cx="274320" cy="274320"/>
          </a:xfrm>
          <a:prstGeom prst="rect">
            <a:avLst/>
          </a:prstGeom>
        </p:spPr>
      </p:pic>
      <p:sp>
        <p:nvSpPr>
          <p:cNvPr id="9" name="Channel 2 text"/>
          <p:cNvSpPr txBox="1"/>
          <p:nvPr/>
        </p:nvSpPr>
        <p:spPr>
          <a:xfrm>
            <a:off x="2715768" y="1508760"/>
            <a:ext cx="1051560" cy="502920"/>
          </a:xfrm>
          <a:prstGeom prst="rect">
            <a:avLst/>
          </a:prstGeom>
          <a:noFill/>
          <a:ln/>
        </p:spPr>
        <p:txBody>
          <a:bodyPr wrap="square" lIns="0" tIns="0" rIns="0" bIns="0" rtlCol="0" anchor="ctr"/>
          <a:lstStyle/>
          <a:p>
            <a:pPr indent="0" marL="0">
              <a:buNone/>
            </a:pPr>
            <a:r>
              <a:rPr lang="en-US" sz="1300" b="1" dirty="0">
                <a:solidFill>
                  <a:schemeClr val="accent1"/>
                </a:solidFill>
              </a:rPr>
              <a:t>Android app</a:t>
            </a:r>
            <a:endParaRPr lang="en-US" sz="1300" dirty="0"/>
          </a:p>
        </p:txBody>
      </p:sp>
      <p:sp>
        <p:nvSpPr>
          <p:cNvPr id="10" name="Channel 3 chip"/>
          <p:cNvSpPr/>
          <p:nvPr/>
        </p:nvSpPr>
        <p:spPr>
          <a:xfrm>
            <a:off x="4023360" y="1508760"/>
            <a:ext cx="1600200" cy="502920"/>
          </a:xfrm>
          <a:prstGeom prst="roundRect">
            <a:avLst>
              <a:gd name="adj" fmla="val 14545"/>
            </a:avLst>
          </a:prstGeom>
          <a:solidFill>
            <a:schemeClr val="bg1">
              <a:alpha val="75000"/>
            </a:schemeClr>
          </a:solidFill>
          <a:ln w="9525">
            <a:solidFill>
              <a:schemeClr val="accent2"/>
            </a:solidFill>
            <a:prstDash val="solid"/>
          </a:ln>
          <a:effectLst>
            <a:outerShdw sx="100000" sy="100000" kx="0" ky="0" algn="bl" rotWithShape="0" blurRad="76200" dist="25400" dir="5400000">
              <a:srgbClr val="3A1A0C">
                <a:alpha val="18000"/>
              </a:srgbClr>
            </a:outerShdw>
          </a:effectLst>
        </p:spPr>
      </p:sp>
      <p:pic>
        <p:nvPicPr>
          <p:cNvPr id="11" name="Channel 3 icon" descr="preencoded.png">    </p:cNvPr>
          <p:cNvPicPr>
            <a:picLocks noChangeAspect="1"/>
          </p:cNvPicPr>
          <p:nvPr/>
        </p:nvPicPr>
        <p:blipFill>
          <a:blip r:embed="rId3"/>
          <a:stretch>
            <a:fillRect/>
          </a:stretch>
        </p:blipFill>
        <p:spPr>
          <a:xfrm>
            <a:off x="4160520" y="1618488"/>
            <a:ext cx="274320" cy="274320"/>
          </a:xfrm>
          <a:prstGeom prst="rect">
            <a:avLst/>
          </a:prstGeom>
        </p:spPr>
      </p:pic>
      <p:sp>
        <p:nvSpPr>
          <p:cNvPr id="12" name="Channel 3 text"/>
          <p:cNvSpPr txBox="1"/>
          <p:nvPr/>
        </p:nvSpPr>
        <p:spPr>
          <a:xfrm>
            <a:off x="4498848" y="1508760"/>
            <a:ext cx="1051560" cy="502920"/>
          </a:xfrm>
          <a:prstGeom prst="rect">
            <a:avLst/>
          </a:prstGeom>
          <a:noFill/>
          <a:ln/>
        </p:spPr>
        <p:txBody>
          <a:bodyPr wrap="square" lIns="0" tIns="0" rIns="0" bIns="0" rtlCol="0" anchor="ctr"/>
          <a:lstStyle/>
          <a:p>
            <a:pPr indent="0" marL="0">
              <a:buNone/>
            </a:pPr>
            <a:r>
              <a:rPr lang="en-US" sz="1300" b="1" dirty="0">
                <a:solidFill>
                  <a:schemeClr val="accent1"/>
                </a:solidFill>
              </a:rPr>
              <a:t>Dashboard</a:t>
            </a:r>
            <a:endParaRPr lang="en-US" sz="1300" dirty="0"/>
          </a:p>
        </p:txBody>
      </p:sp>
      <p:sp>
        <p:nvSpPr>
          <p:cNvPr id="13" name="Channel 4 chip"/>
          <p:cNvSpPr/>
          <p:nvPr/>
        </p:nvSpPr>
        <p:spPr>
          <a:xfrm>
            <a:off x="5806440" y="1508760"/>
            <a:ext cx="1600200" cy="502920"/>
          </a:xfrm>
          <a:prstGeom prst="roundRect">
            <a:avLst>
              <a:gd name="adj" fmla="val 14545"/>
            </a:avLst>
          </a:prstGeom>
          <a:solidFill>
            <a:schemeClr val="bg1">
              <a:alpha val="75000"/>
            </a:schemeClr>
          </a:solidFill>
          <a:ln w="9525">
            <a:solidFill>
              <a:schemeClr val="accent2"/>
            </a:solidFill>
            <a:prstDash val="solid"/>
          </a:ln>
          <a:effectLst>
            <a:outerShdw sx="100000" sy="100000" kx="0" ky="0" algn="bl" rotWithShape="0" blurRad="76200" dist="25400" dir="5400000">
              <a:srgbClr val="3A1A0C">
                <a:alpha val="18000"/>
              </a:srgbClr>
            </a:outerShdw>
          </a:effectLst>
        </p:spPr>
      </p:sp>
      <p:pic>
        <p:nvPicPr>
          <p:cNvPr id="14" name="Channel 4 icon" descr="preencoded.png">    </p:cNvPr>
          <p:cNvPicPr>
            <a:picLocks noChangeAspect="1"/>
          </p:cNvPicPr>
          <p:nvPr/>
        </p:nvPicPr>
        <p:blipFill>
          <a:blip r:embed="rId4"/>
          <a:stretch>
            <a:fillRect/>
          </a:stretch>
        </p:blipFill>
        <p:spPr>
          <a:xfrm>
            <a:off x="5943600" y="1618488"/>
            <a:ext cx="274320" cy="274320"/>
          </a:xfrm>
          <a:prstGeom prst="rect">
            <a:avLst/>
          </a:prstGeom>
        </p:spPr>
      </p:pic>
      <p:sp>
        <p:nvSpPr>
          <p:cNvPr id="15" name="Channel 4 text"/>
          <p:cNvSpPr txBox="1"/>
          <p:nvPr/>
        </p:nvSpPr>
        <p:spPr>
          <a:xfrm>
            <a:off x="6281928" y="1508760"/>
            <a:ext cx="1051560" cy="502920"/>
          </a:xfrm>
          <a:prstGeom prst="rect">
            <a:avLst/>
          </a:prstGeom>
          <a:noFill/>
          <a:ln/>
        </p:spPr>
        <p:txBody>
          <a:bodyPr wrap="square" lIns="0" tIns="0" rIns="0" bIns="0" rtlCol="0" anchor="ctr"/>
          <a:lstStyle/>
          <a:p>
            <a:pPr indent="0" marL="0">
              <a:buNone/>
            </a:pPr>
            <a:r>
              <a:rPr lang="en-US" sz="1300" b="1" dirty="0">
                <a:solidFill>
                  <a:schemeClr val="accent1"/>
                </a:solidFill>
              </a:rPr>
              <a:t>GitHub</a:t>
            </a:r>
            <a:endParaRPr lang="en-US" sz="1300" dirty="0"/>
          </a:p>
        </p:txBody>
      </p:sp>
      <p:sp>
        <p:nvSpPr>
          <p:cNvPr id="16" name="Arrow to backend"/>
          <p:cNvSpPr/>
          <p:nvPr/>
        </p:nvSpPr>
        <p:spPr>
          <a:xfrm>
            <a:off x="3794760" y="2048256"/>
            <a:ext cx="274320" cy="256032"/>
          </a:xfrm>
          <a:prstGeom prst="downArrow">
            <a:avLst/>
          </a:prstGeom>
          <a:solidFill>
            <a:schemeClr val="accent2"/>
          </a:solidFill>
          <a:ln w="12700">
            <a:solidFill>
              <a:schemeClr val="accent2"/>
            </a:solidFill>
            <a:prstDash val="solid"/>
          </a:ln>
        </p:spPr>
      </p:sp>
      <p:sp>
        <p:nvSpPr>
          <p:cNvPr id="17" name="Backend box"/>
          <p:cNvSpPr/>
          <p:nvPr/>
        </p:nvSpPr>
        <p:spPr>
          <a:xfrm>
            <a:off x="457200" y="2340864"/>
            <a:ext cx="6949440" cy="914400"/>
          </a:xfrm>
          <a:prstGeom prst="roundRect">
            <a:avLst>
              <a:gd name="adj" fmla="val 8000"/>
            </a:avLst>
          </a:prstGeom>
          <a:solidFill>
            <a:schemeClr val="accent3"/>
          </a:solidFill>
          <a:ln w="12700">
            <a:solidFill>
              <a:schemeClr val="accent2"/>
            </a:solidFill>
            <a:prstDash val="solid"/>
          </a:ln>
          <a:effectLst>
            <a:outerShdw sx="100000" sy="100000" kx="0" ky="0" algn="bl" rotWithShape="0" blurRad="76200" dist="25400" dir="5400000">
              <a:srgbClr val="3A1A0C">
                <a:alpha val="18000"/>
              </a:srgbClr>
            </a:outerShdw>
          </a:effectLst>
        </p:spPr>
      </p:sp>
      <p:sp>
        <p:nvSpPr>
          <p:cNvPr id="18" name="Backend text"/>
          <p:cNvSpPr txBox="1"/>
          <p:nvPr/>
        </p:nvSpPr>
        <p:spPr>
          <a:xfrm>
            <a:off x="685800" y="2340864"/>
            <a:ext cx="6492240" cy="914400"/>
          </a:xfrm>
          <a:prstGeom prst="rect">
            <a:avLst/>
          </a:prstGeom>
          <a:noFill/>
          <a:ln/>
        </p:spPr>
        <p:txBody>
          <a:bodyPr wrap="square" lIns="0" tIns="0" rIns="0" bIns="0" rtlCol="0" anchor="ctr"/>
          <a:lstStyle/>
          <a:p>
            <a:pPr indent="0" marL="0">
              <a:buNone/>
            </a:pPr>
            <a:r>
              <a:rPr lang="en-US" sz="1500" b="1" dirty="0">
                <a:solidFill>
                  <a:schemeClr val="accent5"/>
                </a:solidFill>
              </a:rPr>
              <a:t>FastAPI backend  ·  one agent loop for every channel</a:t>
            </a:r>
            <a:endParaRPr lang="en-US" sz="1500" dirty="0"/>
          </a:p>
          <a:p>
            <a:pPr indent="0" marL="0">
              <a:buNone/>
            </a:pPr>
            <a:r>
              <a:rPr lang="en-US" sz="1300" dirty="0">
                <a:solidFill>
                  <a:schemeClr val="bg2"/>
                </a:solidFill>
              </a:rPr>
              <a:t>REST API  ·  WebSocket live sync  ·  Auto-Pilot scheduler  ·  SQLite</a:t>
            </a:r>
            <a:endParaRPr lang="en-US" sz="1500" dirty="0"/>
          </a:p>
        </p:txBody>
      </p:sp>
      <p:sp>
        <p:nvSpPr>
          <p:cNvPr id="19" name="Arrow to AI"/>
          <p:cNvSpPr/>
          <p:nvPr/>
        </p:nvSpPr>
        <p:spPr>
          <a:xfrm>
            <a:off x="3794760" y="3291840"/>
            <a:ext cx="274320" cy="256032"/>
          </a:xfrm>
          <a:prstGeom prst="downArrow">
            <a:avLst/>
          </a:prstGeom>
          <a:solidFill>
            <a:schemeClr val="accent2"/>
          </a:solidFill>
          <a:ln w="12700">
            <a:solidFill>
              <a:schemeClr val="accent2"/>
            </a:solidFill>
            <a:prstDash val="solid"/>
          </a:ln>
        </p:spPr>
      </p:sp>
      <p:sp>
        <p:nvSpPr>
          <p:cNvPr id="20" name="AI shield label"/>
          <p:cNvSpPr txBox="1"/>
          <p:nvPr/>
        </p:nvSpPr>
        <p:spPr>
          <a:xfrm>
            <a:off x="457200" y="3547872"/>
            <a:ext cx="3657600" cy="292608"/>
          </a:xfrm>
          <a:prstGeom prst="rect">
            <a:avLst/>
          </a:prstGeom>
          <a:noFill/>
          <a:ln/>
        </p:spPr>
        <p:txBody>
          <a:bodyPr wrap="square" lIns="0" tIns="0" rIns="0" bIns="0" rtlCol="0" anchor="ctr"/>
          <a:lstStyle/>
          <a:p>
            <a:pPr indent="0" marL="0">
              <a:buNone/>
            </a:pPr>
            <a:r>
              <a:rPr lang="en-US" sz="1400" b="1" spc="100" kern="0" dirty="0">
                <a:solidFill>
                  <a:schemeClr val="accent1"/>
                </a:solidFill>
                <a:latin typeface="Bookman Old Style" pitchFamily="34" charset="0"/>
                <a:ea typeface="Bookman Old Style" pitchFamily="34" charset="-122"/>
                <a:cs typeface="Bookman Old Style" pitchFamily="34" charset="-120"/>
              </a:rPr>
              <a:t>4-LAYER AI SHIELD</a:t>
            </a:r>
            <a:endParaRPr lang="en-US" sz="1400" dirty="0"/>
          </a:p>
        </p:txBody>
      </p:sp>
      <p:sp>
        <p:nvSpPr>
          <p:cNvPr id="21" name="AI layer 1 card"/>
          <p:cNvSpPr/>
          <p:nvPr/>
        </p:nvSpPr>
        <p:spPr>
          <a:xfrm>
            <a:off x="457200" y="3877056"/>
            <a:ext cx="1554480" cy="685800"/>
          </a:xfrm>
          <a:prstGeom prst="roundRect">
            <a:avLst>
              <a:gd name="adj" fmla="val 10667"/>
            </a:avLst>
          </a:prstGeom>
          <a:solidFill>
            <a:schemeClr val="bg2"/>
          </a:solidFill>
          <a:ln w="9525">
            <a:solidFill>
              <a:schemeClr val="accent2"/>
            </a:solidFill>
            <a:prstDash val="solid"/>
          </a:ln>
          <a:effectLst>
            <a:outerShdw sx="100000" sy="100000" kx="0" ky="0" algn="bl" rotWithShape="0" blurRad="76200" dist="25400" dir="5400000">
              <a:srgbClr val="3A1A0C">
                <a:alpha val="18000"/>
              </a:srgbClr>
            </a:outerShdw>
          </a:effectLst>
        </p:spPr>
      </p:sp>
      <p:sp>
        <p:nvSpPr>
          <p:cNvPr id="22" name="AI layer 1 text"/>
          <p:cNvSpPr txBox="1"/>
          <p:nvPr/>
        </p:nvSpPr>
        <p:spPr>
          <a:xfrm>
            <a:off x="548640" y="3877056"/>
            <a:ext cx="1371600" cy="685800"/>
          </a:xfrm>
          <a:prstGeom prst="rect">
            <a:avLst/>
          </a:prstGeom>
          <a:noFill/>
          <a:ln/>
        </p:spPr>
        <p:txBody>
          <a:bodyPr wrap="square" lIns="0" tIns="0" rIns="0" bIns="0" rtlCol="0" anchor="ctr"/>
          <a:lstStyle/>
          <a:p>
            <a:pPr algn="ctr" indent="0" marL="0">
              <a:buNone/>
            </a:pPr>
            <a:r>
              <a:rPr lang="en-US" sz="1300" b="1" dirty="0">
                <a:solidFill>
                  <a:schemeClr val="accent1"/>
                </a:solidFill>
              </a:rPr>
              <a:t>L1 · Groq</a:t>
            </a:r>
            <a:endParaRPr lang="en-US" sz="1300" dirty="0"/>
          </a:p>
          <a:p>
            <a:pPr algn="ctr" indent="0" marL="0">
              <a:buNone/>
            </a:pPr>
            <a:r>
              <a:rPr lang="en-US" sz="1100" dirty="0">
                <a:solidFill>
                  <a:schemeClr val="tx1"/>
                </a:solidFill>
              </a:rPr>
              <a:t>Model rotation</a:t>
            </a:r>
            <a:endParaRPr lang="en-US" sz="1300" dirty="0"/>
          </a:p>
        </p:txBody>
      </p:sp>
      <p:sp>
        <p:nvSpPr>
          <p:cNvPr id="23" name="AI layer arrow 1"/>
          <p:cNvSpPr/>
          <p:nvPr/>
        </p:nvSpPr>
        <p:spPr>
          <a:xfrm>
            <a:off x="2048256" y="4114800"/>
            <a:ext cx="170688" cy="201168"/>
          </a:xfrm>
          <a:prstGeom prst="rightArrow">
            <a:avLst/>
          </a:prstGeom>
          <a:solidFill>
            <a:schemeClr val="accent2"/>
          </a:solidFill>
          <a:ln w="12700">
            <a:solidFill>
              <a:schemeClr val="accent2"/>
            </a:solidFill>
            <a:prstDash val="solid"/>
          </a:ln>
        </p:spPr>
      </p:sp>
      <p:sp>
        <p:nvSpPr>
          <p:cNvPr id="24" name="AI layer 2 card"/>
          <p:cNvSpPr/>
          <p:nvPr/>
        </p:nvSpPr>
        <p:spPr>
          <a:xfrm>
            <a:off x="2255520" y="3877056"/>
            <a:ext cx="1554480" cy="685800"/>
          </a:xfrm>
          <a:prstGeom prst="roundRect">
            <a:avLst>
              <a:gd name="adj" fmla="val 10667"/>
            </a:avLst>
          </a:prstGeom>
          <a:solidFill>
            <a:schemeClr val="bg2"/>
          </a:solidFill>
          <a:ln w="9525">
            <a:solidFill>
              <a:schemeClr val="accent2"/>
            </a:solidFill>
            <a:prstDash val="solid"/>
          </a:ln>
          <a:effectLst>
            <a:outerShdw sx="100000" sy="100000" kx="0" ky="0" algn="bl" rotWithShape="0" blurRad="76200" dist="25400" dir="5400000">
              <a:srgbClr val="3A1A0C">
                <a:alpha val="18000"/>
              </a:srgbClr>
            </a:outerShdw>
          </a:effectLst>
        </p:spPr>
      </p:sp>
      <p:sp>
        <p:nvSpPr>
          <p:cNvPr id="25" name="AI layer 2 text"/>
          <p:cNvSpPr txBox="1"/>
          <p:nvPr/>
        </p:nvSpPr>
        <p:spPr>
          <a:xfrm>
            <a:off x="2346960" y="3877056"/>
            <a:ext cx="1371600" cy="685800"/>
          </a:xfrm>
          <a:prstGeom prst="rect">
            <a:avLst/>
          </a:prstGeom>
          <a:noFill/>
          <a:ln/>
        </p:spPr>
        <p:txBody>
          <a:bodyPr wrap="square" lIns="0" tIns="0" rIns="0" bIns="0" rtlCol="0" anchor="ctr"/>
          <a:lstStyle/>
          <a:p>
            <a:pPr algn="ctr" indent="0" marL="0">
              <a:buNone/>
            </a:pPr>
            <a:r>
              <a:rPr lang="en-US" sz="1300" b="1" dirty="0">
                <a:solidFill>
                  <a:schemeClr val="accent1"/>
                </a:solidFill>
              </a:rPr>
              <a:t>L2 · Gemini</a:t>
            </a:r>
            <a:endParaRPr lang="en-US" sz="1300" dirty="0"/>
          </a:p>
          <a:p>
            <a:pPr algn="ctr" indent="0" marL="0">
              <a:buNone/>
            </a:pPr>
            <a:r>
              <a:rPr lang="en-US" sz="1100" dirty="0">
                <a:solidFill>
                  <a:schemeClr val="tx1"/>
                </a:solidFill>
              </a:rPr>
              <a:t>Cloud backup</a:t>
            </a:r>
            <a:endParaRPr lang="en-US" sz="1300" dirty="0"/>
          </a:p>
        </p:txBody>
      </p:sp>
      <p:sp>
        <p:nvSpPr>
          <p:cNvPr id="26" name="AI layer arrow 2"/>
          <p:cNvSpPr/>
          <p:nvPr/>
        </p:nvSpPr>
        <p:spPr>
          <a:xfrm>
            <a:off x="3846576" y="4114800"/>
            <a:ext cx="170688" cy="201168"/>
          </a:xfrm>
          <a:prstGeom prst="rightArrow">
            <a:avLst/>
          </a:prstGeom>
          <a:solidFill>
            <a:schemeClr val="accent2"/>
          </a:solidFill>
          <a:ln w="12700">
            <a:solidFill>
              <a:schemeClr val="accent2"/>
            </a:solidFill>
            <a:prstDash val="solid"/>
          </a:ln>
        </p:spPr>
      </p:sp>
      <p:sp>
        <p:nvSpPr>
          <p:cNvPr id="27" name="AI layer 3 card"/>
          <p:cNvSpPr/>
          <p:nvPr/>
        </p:nvSpPr>
        <p:spPr>
          <a:xfrm>
            <a:off x="4053840" y="3877056"/>
            <a:ext cx="1554480" cy="685800"/>
          </a:xfrm>
          <a:prstGeom prst="roundRect">
            <a:avLst>
              <a:gd name="adj" fmla="val 10667"/>
            </a:avLst>
          </a:prstGeom>
          <a:solidFill>
            <a:schemeClr val="bg2"/>
          </a:solidFill>
          <a:ln w="9525">
            <a:solidFill>
              <a:schemeClr val="accent2"/>
            </a:solidFill>
            <a:prstDash val="solid"/>
          </a:ln>
          <a:effectLst>
            <a:outerShdw sx="100000" sy="100000" kx="0" ky="0" algn="bl" rotWithShape="0" blurRad="76200" dist="25400" dir="5400000">
              <a:srgbClr val="3A1A0C">
                <a:alpha val="18000"/>
              </a:srgbClr>
            </a:outerShdw>
          </a:effectLst>
        </p:spPr>
      </p:sp>
      <p:sp>
        <p:nvSpPr>
          <p:cNvPr id="28" name="AI layer 3 text"/>
          <p:cNvSpPr txBox="1"/>
          <p:nvPr/>
        </p:nvSpPr>
        <p:spPr>
          <a:xfrm>
            <a:off x="4145280" y="3877056"/>
            <a:ext cx="1371600" cy="685800"/>
          </a:xfrm>
          <a:prstGeom prst="rect">
            <a:avLst/>
          </a:prstGeom>
          <a:noFill/>
          <a:ln/>
        </p:spPr>
        <p:txBody>
          <a:bodyPr wrap="square" lIns="0" tIns="0" rIns="0" bIns="0" rtlCol="0" anchor="ctr"/>
          <a:lstStyle/>
          <a:p>
            <a:pPr algn="ctr" indent="0" marL="0">
              <a:buNone/>
            </a:pPr>
            <a:r>
              <a:rPr lang="en-US" sz="1300" b="1" dirty="0">
                <a:solidFill>
                  <a:schemeClr val="accent1"/>
                </a:solidFill>
              </a:rPr>
              <a:t>L3 · Ollama</a:t>
            </a:r>
            <a:endParaRPr lang="en-US" sz="1300" dirty="0"/>
          </a:p>
          <a:p>
            <a:pPr algn="ctr" indent="0" marL="0">
              <a:buNone/>
            </a:pPr>
            <a:r>
              <a:rPr lang="en-US" sz="1100" dirty="0">
                <a:solidFill>
                  <a:schemeClr val="tx1"/>
                </a:solidFill>
              </a:rPr>
              <a:t>Local, no internet</a:t>
            </a:r>
            <a:endParaRPr lang="en-US" sz="1300" dirty="0"/>
          </a:p>
        </p:txBody>
      </p:sp>
      <p:sp>
        <p:nvSpPr>
          <p:cNvPr id="29" name="AI layer arrow 3"/>
          <p:cNvSpPr/>
          <p:nvPr/>
        </p:nvSpPr>
        <p:spPr>
          <a:xfrm>
            <a:off x="5644896" y="4114800"/>
            <a:ext cx="170688" cy="201168"/>
          </a:xfrm>
          <a:prstGeom prst="rightArrow">
            <a:avLst/>
          </a:prstGeom>
          <a:solidFill>
            <a:schemeClr val="accent2"/>
          </a:solidFill>
          <a:ln w="12700">
            <a:solidFill>
              <a:schemeClr val="accent2"/>
            </a:solidFill>
            <a:prstDash val="solid"/>
          </a:ln>
        </p:spPr>
      </p:sp>
      <p:sp>
        <p:nvSpPr>
          <p:cNvPr id="30" name="AI layer 4 card"/>
          <p:cNvSpPr/>
          <p:nvPr/>
        </p:nvSpPr>
        <p:spPr>
          <a:xfrm>
            <a:off x="5852160" y="3877056"/>
            <a:ext cx="1554480" cy="685800"/>
          </a:xfrm>
          <a:prstGeom prst="roundRect">
            <a:avLst>
              <a:gd name="adj" fmla="val 10667"/>
            </a:avLst>
          </a:prstGeom>
          <a:solidFill>
            <a:schemeClr val="bg2"/>
          </a:solidFill>
          <a:ln w="9525">
            <a:solidFill>
              <a:schemeClr val="accent2"/>
            </a:solidFill>
            <a:prstDash val="solid"/>
          </a:ln>
          <a:effectLst>
            <a:outerShdw sx="100000" sy="100000" kx="0" ky="0" algn="bl" rotWithShape="0" blurRad="76200" dist="25400" dir="5400000">
              <a:srgbClr val="3A1A0C">
                <a:alpha val="18000"/>
              </a:srgbClr>
            </a:outerShdw>
          </a:effectLst>
        </p:spPr>
      </p:sp>
      <p:sp>
        <p:nvSpPr>
          <p:cNvPr id="31" name="AI layer 4 text"/>
          <p:cNvSpPr txBox="1"/>
          <p:nvPr/>
        </p:nvSpPr>
        <p:spPr>
          <a:xfrm>
            <a:off x="5943600" y="3877056"/>
            <a:ext cx="1371600" cy="685800"/>
          </a:xfrm>
          <a:prstGeom prst="rect">
            <a:avLst/>
          </a:prstGeom>
          <a:noFill/>
          <a:ln/>
        </p:spPr>
        <p:txBody>
          <a:bodyPr wrap="square" lIns="0" tIns="0" rIns="0" bIns="0" rtlCol="0" anchor="ctr"/>
          <a:lstStyle/>
          <a:p>
            <a:pPr algn="ctr" indent="0" marL="0">
              <a:buNone/>
            </a:pPr>
            <a:r>
              <a:rPr lang="en-US" sz="1300" b="1" dirty="0">
                <a:solidFill>
                  <a:schemeClr val="accent1"/>
                </a:solidFill>
              </a:rPr>
              <a:t>L4 · Offline</a:t>
            </a:r>
            <a:endParaRPr lang="en-US" sz="1300" dirty="0"/>
          </a:p>
          <a:p>
            <a:pPr algn="ctr" indent="0" marL="0">
              <a:buNone/>
            </a:pPr>
            <a:r>
              <a:rPr lang="en-US" sz="1100" dirty="0">
                <a:solidFill>
                  <a:schemeClr val="tx1"/>
                </a:solidFill>
              </a:rPr>
              <a:t>Rule engine</a:t>
            </a:r>
            <a:endParaRPr lang="en-US" sz="1300" dirty="0"/>
          </a:p>
        </p:txBody>
      </p:sp>
      <p:sp>
        <p:nvSpPr>
          <p:cNvPr id="32" name="Arrow to guardrails"/>
          <p:cNvSpPr/>
          <p:nvPr/>
        </p:nvSpPr>
        <p:spPr>
          <a:xfrm>
            <a:off x="3794760" y="4599432"/>
            <a:ext cx="274320" cy="237744"/>
          </a:xfrm>
          <a:prstGeom prst="downArrow">
            <a:avLst/>
          </a:prstGeom>
          <a:solidFill>
            <a:schemeClr val="accent2"/>
          </a:solidFill>
          <a:ln w="12700">
            <a:solidFill>
              <a:schemeClr val="accent2"/>
            </a:solidFill>
            <a:prstDash val="solid"/>
          </a:ln>
        </p:spPr>
      </p:sp>
      <p:sp>
        <p:nvSpPr>
          <p:cNvPr id="33" name="Guardrails card"/>
          <p:cNvSpPr/>
          <p:nvPr/>
        </p:nvSpPr>
        <p:spPr>
          <a:xfrm>
            <a:off x="457200" y="4873752"/>
            <a:ext cx="6949440" cy="1435608"/>
          </a:xfrm>
          <a:prstGeom prst="roundRect">
            <a:avLst>
              <a:gd name="adj" fmla="val 5096"/>
            </a:avLst>
          </a:prstGeom>
          <a:solidFill>
            <a:schemeClr val="accent5">
              <a:alpha val="30000"/>
            </a:schemeClr>
          </a:solidFill>
          <a:ln w="9525">
            <a:solidFill>
              <a:schemeClr val="accent2"/>
            </a:solidFill>
            <a:prstDash val="solid"/>
          </a:ln>
          <a:effectLst>
            <a:outerShdw sx="100000" sy="100000" kx="0" ky="0" algn="bl" rotWithShape="0" blurRad="76200" dist="25400" dir="5400000">
              <a:srgbClr val="3A1A0C">
                <a:alpha val="18000"/>
              </a:srgbClr>
            </a:outerShdw>
          </a:effectLst>
        </p:spPr>
      </p:sp>
      <p:sp>
        <p:nvSpPr>
          <p:cNvPr id="34" name="Guardrails label"/>
          <p:cNvSpPr txBox="1"/>
          <p:nvPr/>
        </p:nvSpPr>
        <p:spPr>
          <a:xfrm>
            <a:off x="685800" y="4937760"/>
            <a:ext cx="6400800" cy="292608"/>
          </a:xfrm>
          <a:prstGeom prst="rect">
            <a:avLst/>
          </a:prstGeom>
          <a:noFill/>
          <a:ln/>
        </p:spPr>
        <p:txBody>
          <a:bodyPr wrap="square" lIns="0" tIns="0" rIns="0" bIns="0" rtlCol="0" anchor="ctr"/>
          <a:lstStyle/>
          <a:p>
            <a:pPr indent="0" marL="0">
              <a:buNone/>
            </a:pPr>
            <a:r>
              <a:rPr lang="en-US" sz="1400" b="1" spc="100" kern="0" dirty="0">
                <a:solidFill>
                  <a:schemeClr val="accent1"/>
                </a:solidFill>
                <a:latin typeface="Bookman Old Style" pitchFamily="34" charset="0"/>
                <a:ea typeface="Bookman Old Style" pitchFamily="34" charset="-122"/>
                <a:cs typeface="Bookman Old Style" pitchFamily="34" charset="-120"/>
              </a:rPr>
              <a:t>GUARDRAILS ENFORCED IN CODE</a:t>
            </a:r>
            <a:endParaRPr lang="en-US" sz="1400" dirty="0"/>
          </a:p>
        </p:txBody>
      </p:sp>
      <p:sp>
        <p:nvSpPr>
          <p:cNvPr id="35" name="Guardrails left"/>
          <p:cNvSpPr txBox="1"/>
          <p:nvPr/>
        </p:nvSpPr>
        <p:spPr>
          <a:xfrm>
            <a:off x="685800" y="5285232"/>
            <a:ext cx="3337560" cy="9601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Partial progress + blocker = Blocked</a:t>
            </a:r>
            <a:endParaRPr lang="en-US" sz="1300" dirty="0"/>
          </a:p>
          <a:p>
            <a:pPr marL="342900" indent="-342900">
              <a:spcAft>
                <a:spcPts val="600"/>
              </a:spcAft>
              <a:buSzPct val="100000"/>
              <a:buChar char="•"/>
            </a:pPr>
            <a:r>
              <a:rPr lang="en-US" sz="1300" dirty="0">
                <a:solidFill>
                  <a:schemeClr val="tx1"/>
                </a:solidFill>
              </a:rPr>
              <a:t>Contradiction guard refuses false “done”</a:t>
            </a:r>
            <a:endParaRPr lang="en-US" sz="1300" dirty="0"/>
          </a:p>
        </p:txBody>
      </p:sp>
      <p:sp>
        <p:nvSpPr>
          <p:cNvPr id="36" name="Guardrails right"/>
          <p:cNvSpPr txBox="1"/>
          <p:nvPr/>
        </p:nvSpPr>
        <p:spPr>
          <a:xfrm>
            <a:off x="4069080" y="5285232"/>
            <a:ext cx="3200400" cy="9601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Blocker relayed to who can fix it</a:t>
            </a:r>
            <a:endParaRPr lang="en-US" sz="1300" dirty="0"/>
          </a:p>
          <a:p>
            <a:pPr marL="342900" indent="-342900">
              <a:spcAft>
                <a:spcPts val="600"/>
              </a:spcAft>
              <a:buSzPct val="100000"/>
              <a:buChar char="•"/>
            </a:pPr>
            <a:r>
              <a:rPr lang="en-US" sz="1300" dirty="0">
                <a:solidFill>
                  <a:schemeClr val="tx1"/>
                </a:solidFill>
              </a:rPr>
              <a:t>Auto-unblock and handoff when work lands</a:t>
            </a:r>
            <a:endParaRPr lang="en-US" sz="1300" dirty="0"/>
          </a:p>
        </p:txBody>
      </p:sp>
      <p:sp>
        <p:nvSpPr>
          <p:cNvPr id="37" name="Tech stack card"/>
          <p:cNvSpPr/>
          <p:nvPr/>
        </p:nvSpPr>
        <p:spPr>
          <a:xfrm>
            <a:off x="7680960" y="1188720"/>
            <a:ext cx="4050792" cy="5120640"/>
          </a:xfrm>
          <a:prstGeom prst="roundRect">
            <a:avLst>
              <a:gd name="adj" fmla="val 1806"/>
            </a:avLst>
          </a:prstGeom>
          <a:solidFill>
            <a:schemeClr val="bg1">
              <a:alpha val="75000"/>
            </a:schemeClr>
          </a:solidFill>
          <a:ln w="9525">
            <a:solidFill>
              <a:schemeClr val="accent2"/>
            </a:solidFill>
            <a:prstDash val="solid"/>
          </a:ln>
          <a:effectLst>
            <a:outerShdw sx="100000" sy="100000" kx="0" ky="0" algn="bl" rotWithShape="0" blurRad="76200" dist="25400" dir="5400000">
              <a:srgbClr val="3A1A0C">
                <a:alpha val="18000"/>
              </a:srgbClr>
            </a:outerShdw>
          </a:effectLst>
        </p:spPr>
      </p:sp>
      <p:sp>
        <p:nvSpPr>
          <p:cNvPr id="38" name="Tech stack label"/>
          <p:cNvSpPr txBox="1"/>
          <p:nvPr/>
        </p:nvSpPr>
        <p:spPr>
          <a:xfrm>
            <a:off x="7909560" y="1280160"/>
            <a:ext cx="3657600" cy="292608"/>
          </a:xfrm>
          <a:prstGeom prst="rect">
            <a:avLst/>
          </a:prstGeom>
          <a:noFill/>
          <a:ln/>
        </p:spPr>
        <p:txBody>
          <a:bodyPr wrap="square" lIns="0" tIns="0" rIns="0" bIns="0" rtlCol="0" anchor="ctr"/>
          <a:lstStyle/>
          <a:p>
            <a:pPr indent="0" marL="0">
              <a:buNone/>
            </a:pPr>
            <a:r>
              <a:rPr lang="en-US" sz="1400" b="1" spc="100" kern="0" dirty="0">
                <a:solidFill>
                  <a:schemeClr val="accent1"/>
                </a:solidFill>
                <a:latin typeface="Bookman Old Style" pitchFamily="34" charset="0"/>
                <a:ea typeface="Bookman Old Style" pitchFamily="34" charset="-122"/>
                <a:cs typeface="Bookman Old Style" pitchFamily="34" charset="-120"/>
              </a:rPr>
              <a:t>TECH STACK</a:t>
            </a:r>
            <a:endParaRPr lang="en-US" sz="1400" dirty="0"/>
          </a:p>
        </p:txBody>
      </p:sp>
      <p:sp>
        <p:nvSpPr>
          <p:cNvPr id="39" name="Stack 1 circle"/>
          <p:cNvSpPr/>
          <p:nvPr/>
        </p:nvSpPr>
        <p:spPr>
          <a:xfrm>
            <a:off x="7909560" y="1691640"/>
            <a:ext cx="411480" cy="411480"/>
          </a:xfrm>
          <a:prstGeom prst="ellipse">
            <a:avLst/>
          </a:prstGeom>
          <a:solidFill>
            <a:schemeClr val="accent1"/>
          </a:solidFill>
          <a:ln w="12700">
            <a:solidFill>
              <a:schemeClr val="accent2"/>
            </a:solidFill>
            <a:prstDash val="solid"/>
          </a:ln>
        </p:spPr>
      </p:sp>
      <p:pic>
        <p:nvPicPr>
          <p:cNvPr id="40" name="Stack 1 icon" descr="preencoded.png">    </p:cNvPr>
          <p:cNvPicPr>
            <a:picLocks noChangeAspect="1"/>
          </p:cNvPicPr>
          <p:nvPr/>
        </p:nvPicPr>
        <p:blipFill>
          <a:blip r:embed="rId5"/>
          <a:stretch>
            <a:fillRect/>
          </a:stretch>
        </p:blipFill>
        <p:spPr>
          <a:xfrm>
            <a:off x="8008315" y="1790395"/>
            <a:ext cx="213970" cy="213970"/>
          </a:xfrm>
          <a:prstGeom prst="rect">
            <a:avLst/>
          </a:prstGeom>
        </p:spPr>
      </p:pic>
      <p:sp>
        <p:nvSpPr>
          <p:cNvPr id="41" name="Stack 1 title"/>
          <p:cNvSpPr txBox="1"/>
          <p:nvPr/>
        </p:nvSpPr>
        <p:spPr>
          <a:xfrm>
            <a:off x="8430768" y="1691640"/>
            <a:ext cx="3108960" cy="411480"/>
          </a:xfrm>
          <a:prstGeom prst="rect">
            <a:avLst/>
          </a:prstGeom>
          <a:noFill/>
          <a:ln/>
        </p:spPr>
        <p:txBody>
          <a:bodyPr wrap="square" lIns="0" tIns="0" rIns="0" bIns="0" rtlCol="0" anchor="ctr"/>
          <a:lstStyle/>
          <a:p>
            <a:pPr indent="0" marL="0">
              <a:buNone/>
            </a:pPr>
            <a:r>
              <a:rPr lang="en-US" sz="1400" b="1" dirty="0">
                <a:solidFill>
                  <a:schemeClr val="accent1"/>
                </a:solidFill>
              </a:rPr>
              <a:t>Backend</a:t>
            </a:r>
            <a:endParaRPr lang="en-US" sz="1400" dirty="0"/>
          </a:p>
        </p:txBody>
      </p:sp>
      <p:sp>
        <p:nvSpPr>
          <p:cNvPr id="42" name="Stack 1 text"/>
          <p:cNvSpPr txBox="1"/>
          <p:nvPr/>
        </p:nvSpPr>
        <p:spPr>
          <a:xfrm>
            <a:off x="8430768" y="2103120"/>
            <a:ext cx="3108960" cy="658368"/>
          </a:xfrm>
          <a:prstGeom prst="rect">
            <a:avLst/>
          </a:prstGeom>
          <a:noFill/>
          <a:ln/>
        </p:spPr>
        <p:txBody>
          <a:bodyPr wrap="square" lIns="0" tIns="0" rIns="0" bIns="0" rtlCol="0" anchor="t"/>
          <a:lstStyle/>
          <a:p>
            <a:pPr indent="0" marL="0">
              <a:buNone/>
            </a:pPr>
            <a:r>
              <a:rPr lang="en-US" sz="1200" dirty="0">
                <a:solidFill>
                  <a:schemeClr val="tx1"/>
                </a:solidFill>
              </a:rPr>
              <a:t>Python 3.11 · FastAPI · Uvicorn · SQLModel · SQLite · asyncio</a:t>
            </a:r>
            <a:endParaRPr lang="en-US" sz="1200" dirty="0"/>
          </a:p>
        </p:txBody>
      </p:sp>
      <p:sp>
        <p:nvSpPr>
          <p:cNvPr id="43" name="Stack 2 circle"/>
          <p:cNvSpPr/>
          <p:nvPr/>
        </p:nvSpPr>
        <p:spPr>
          <a:xfrm>
            <a:off x="7909560" y="2834640"/>
            <a:ext cx="411480" cy="411480"/>
          </a:xfrm>
          <a:prstGeom prst="ellipse">
            <a:avLst/>
          </a:prstGeom>
          <a:solidFill>
            <a:schemeClr val="accent1"/>
          </a:solidFill>
          <a:ln w="12700">
            <a:solidFill>
              <a:schemeClr val="accent2"/>
            </a:solidFill>
            <a:prstDash val="solid"/>
          </a:ln>
        </p:spPr>
      </p:sp>
      <p:pic>
        <p:nvPicPr>
          <p:cNvPr id="44" name="Stack 2 icon" descr="preencoded.png">    </p:cNvPr>
          <p:cNvPicPr>
            <a:picLocks noChangeAspect="1"/>
          </p:cNvPicPr>
          <p:nvPr/>
        </p:nvPicPr>
        <p:blipFill>
          <a:blip r:embed="rId6"/>
          <a:stretch>
            <a:fillRect/>
          </a:stretch>
        </p:blipFill>
        <p:spPr>
          <a:xfrm>
            <a:off x="8008315" y="2933395"/>
            <a:ext cx="213970" cy="213970"/>
          </a:xfrm>
          <a:prstGeom prst="rect">
            <a:avLst/>
          </a:prstGeom>
        </p:spPr>
      </p:pic>
      <p:sp>
        <p:nvSpPr>
          <p:cNvPr id="45" name="Stack 2 title"/>
          <p:cNvSpPr txBox="1"/>
          <p:nvPr/>
        </p:nvSpPr>
        <p:spPr>
          <a:xfrm>
            <a:off x="8430768" y="2834640"/>
            <a:ext cx="3108960" cy="411480"/>
          </a:xfrm>
          <a:prstGeom prst="rect">
            <a:avLst/>
          </a:prstGeom>
          <a:noFill/>
          <a:ln/>
        </p:spPr>
        <p:txBody>
          <a:bodyPr wrap="square" lIns="0" tIns="0" rIns="0" bIns="0" rtlCol="0" anchor="ctr"/>
          <a:lstStyle/>
          <a:p>
            <a:pPr indent="0" marL="0">
              <a:buNone/>
            </a:pPr>
            <a:r>
              <a:rPr lang="en-US" sz="1400" b="1" dirty="0">
                <a:solidFill>
                  <a:schemeClr val="accent1"/>
                </a:solidFill>
              </a:rPr>
              <a:t>AI / NLP</a:t>
            </a:r>
            <a:endParaRPr lang="en-US" sz="1400" dirty="0"/>
          </a:p>
        </p:txBody>
      </p:sp>
      <p:sp>
        <p:nvSpPr>
          <p:cNvPr id="46" name="Stack 2 text"/>
          <p:cNvSpPr txBox="1"/>
          <p:nvPr/>
        </p:nvSpPr>
        <p:spPr>
          <a:xfrm>
            <a:off x="8430768" y="3246120"/>
            <a:ext cx="3108960" cy="658368"/>
          </a:xfrm>
          <a:prstGeom prst="rect">
            <a:avLst/>
          </a:prstGeom>
          <a:noFill/>
          <a:ln/>
        </p:spPr>
        <p:txBody>
          <a:bodyPr wrap="square" lIns="0" tIns="0" rIns="0" bIns="0" rtlCol="0" anchor="t"/>
          <a:lstStyle/>
          <a:p>
            <a:pPr indent="0" marL="0">
              <a:buNone/>
            </a:pPr>
            <a:r>
              <a:rPr lang="en-US" sz="1200" dirty="0">
                <a:solidFill>
                  <a:schemeClr val="tx1"/>
                </a:solidFill>
              </a:rPr>
              <a:t>OpenAI-compatible SDK · Groq · Gemini · Ollama · rule engine (English + Hinglish)</a:t>
            </a:r>
            <a:endParaRPr lang="en-US" sz="1200" dirty="0"/>
          </a:p>
        </p:txBody>
      </p:sp>
      <p:sp>
        <p:nvSpPr>
          <p:cNvPr id="47" name="Stack 3 circle"/>
          <p:cNvSpPr/>
          <p:nvPr/>
        </p:nvSpPr>
        <p:spPr>
          <a:xfrm>
            <a:off x="7909560" y="3977640"/>
            <a:ext cx="411480" cy="411480"/>
          </a:xfrm>
          <a:prstGeom prst="ellipse">
            <a:avLst/>
          </a:prstGeom>
          <a:solidFill>
            <a:schemeClr val="accent1"/>
          </a:solidFill>
          <a:ln w="12700">
            <a:solidFill>
              <a:schemeClr val="accent2"/>
            </a:solidFill>
            <a:prstDash val="solid"/>
          </a:ln>
        </p:spPr>
      </p:sp>
      <p:pic>
        <p:nvPicPr>
          <p:cNvPr id="48" name="Stack 3 icon" descr="preencoded.png">    </p:cNvPr>
          <p:cNvPicPr>
            <a:picLocks noChangeAspect="1"/>
          </p:cNvPicPr>
          <p:nvPr/>
        </p:nvPicPr>
        <p:blipFill>
          <a:blip r:embed="rId7"/>
          <a:stretch>
            <a:fillRect/>
          </a:stretch>
        </p:blipFill>
        <p:spPr>
          <a:xfrm>
            <a:off x="8008315" y="4076395"/>
            <a:ext cx="213970" cy="213970"/>
          </a:xfrm>
          <a:prstGeom prst="rect">
            <a:avLst/>
          </a:prstGeom>
        </p:spPr>
      </p:pic>
      <p:sp>
        <p:nvSpPr>
          <p:cNvPr id="49" name="Stack 3 title"/>
          <p:cNvSpPr txBox="1"/>
          <p:nvPr/>
        </p:nvSpPr>
        <p:spPr>
          <a:xfrm>
            <a:off x="8430768" y="3977640"/>
            <a:ext cx="3108960" cy="411480"/>
          </a:xfrm>
          <a:prstGeom prst="rect">
            <a:avLst/>
          </a:prstGeom>
          <a:noFill/>
          <a:ln/>
        </p:spPr>
        <p:txBody>
          <a:bodyPr wrap="square" lIns="0" tIns="0" rIns="0" bIns="0" rtlCol="0" anchor="ctr"/>
          <a:lstStyle/>
          <a:p>
            <a:pPr indent="0" marL="0">
              <a:buNone/>
            </a:pPr>
            <a:r>
              <a:rPr lang="en-US" sz="1400" b="1" dirty="0">
                <a:solidFill>
                  <a:schemeClr val="accent1"/>
                </a:solidFill>
              </a:rPr>
              <a:t>Frontend</a:t>
            </a:r>
            <a:endParaRPr lang="en-US" sz="1400" dirty="0"/>
          </a:p>
        </p:txBody>
      </p:sp>
      <p:sp>
        <p:nvSpPr>
          <p:cNvPr id="50" name="Stack 3 text"/>
          <p:cNvSpPr txBox="1"/>
          <p:nvPr/>
        </p:nvSpPr>
        <p:spPr>
          <a:xfrm>
            <a:off x="8430768" y="4389120"/>
            <a:ext cx="3108960" cy="658368"/>
          </a:xfrm>
          <a:prstGeom prst="rect">
            <a:avLst/>
          </a:prstGeom>
          <a:noFill/>
          <a:ln/>
        </p:spPr>
        <p:txBody>
          <a:bodyPr wrap="square" lIns="0" tIns="0" rIns="0" bIns="0" rtlCol="0" anchor="t"/>
          <a:lstStyle/>
          <a:p>
            <a:pPr indent="0" marL="0">
              <a:buNone/>
            </a:pPr>
            <a:r>
              <a:rPr lang="en-US" sz="1200" dirty="0">
                <a:solidFill>
                  <a:schemeClr val="tx1"/>
                </a:solidFill>
              </a:rPr>
              <a:t>React 18 · Vite 5 · Tailwind CSS · lucide-react · PWA · Web Speech API</a:t>
            </a:r>
            <a:endParaRPr lang="en-US" sz="1200" dirty="0"/>
          </a:p>
        </p:txBody>
      </p:sp>
      <p:sp>
        <p:nvSpPr>
          <p:cNvPr id="51" name="Stack 4 circle"/>
          <p:cNvSpPr/>
          <p:nvPr/>
        </p:nvSpPr>
        <p:spPr>
          <a:xfrm>
            <a:off x="7909560" y="5120640"/>
            <a:ext cx="411480" cy="411480"/>
          </a:xfrm>
          <a:prstGeom prst="ellipse">
            <a:avLst/>
          </a:prstGeom>
          <a:solidFill>
            <a:schemeClr val="accent1"/>
          </a:solidFill>
          <a:ln w="12700">
            <a:solidFill>
              <a:schemeClr val="accent2"/>
            </a:solidFill>
            <a:prstDash val="solid"/>
          </a:ln>
        </p:spPr>
      </p:sp>
      <p:pic>
        <p:nvPicPr>
          <p:cNvPr id="52" name="Stack 4 icon" descr="preencoded.png">    </p:cNvPr>
          <p:cNvPicPr>
            <a:picLocks noChangeAspect="1"/>
          </p:cNvPicPr>
          <p:nvPr/>
        </p:nvPicPr>
        <p:blipFill>
          <a:blip r:embed="rId8"/>
          <a:stretch>
            <a:fillRect/>
          </a:stretch>
        </p:blipFill>
        <p:spPr>
          <a:xfrm>
            <a:off x="8008315" y="5219395"/>
            <a:ext cx="213970" cy="213970"/>
          </a:xfrm>
          <a:prstGeom prst="rect">
            <a:avLst/>
          </a:prstGeom>
        </p:spPr>
      </p:pic>
      <p:sp>
        <p:nvSpPr>
          <p:cNvPr id="53" name="Stack 4 title"/>
          <p:cNvSpPr txBox="1"/>
          <p:nvPr/>
        </p:nvSpPr>
        <p:spPr>
          <a:xfrm>
            <a:off x="8430768" y="5120640"/>
            <a:ext cx="3108960" cy="411480"/>
          </a:xfrm>
          <a:prstGeom prst="rect">
            <a:avLst/>
          </a:prstGeom>
          <a:noFill/>
          <a:ln/>
        </p:spPr>
        <p:txBody>
          <a:bodyPr wrap="square" lIns="0" tIns="0" rIns="0" bIns="0" rtlCol="0" anchor="ctr"/>
          <a:lstStyle/>
          <a:p>
            <a:pPr indent="0" marL="0">
              <a:buNone/>
            </a:pPr>
            <a:r>
              <a:rPr lang="en-US" sz="1400" b="1" dirty="0">
                <a:solidFill>
                  <a:schemeClr val="accent1"/>
                </a:solidFill>
              </a:rPr>
              <a:t>Integrations</a:t>
            </a:r>
            <a:endParaRPr lang="en-US" sz="1400" dirty="0"/>
          </a:p>
        </p:txBody>
      </p:sp>
      <p:sp>
        <p:nvSpPr>
          <p:cNvPr id="54" name="Stack 4 text"/>
          <p:cNvSpPr txBox="1"/>
          <p:nvPr/>
        </p:nvSpPr>
        <p:spPr>
          <a:xfrm>
            <a:off x="8430768" y="5532120"/>
            <a:ext cx="3108960" cy="658368"/>
          </a:xfrm>
          <a:prstGeom prst="rect">
            <a:avLst/>
          </a:prstGeom>
          <a:noFill/>
          <a:ln/>
        </p:spPr>
        <p:txBody>
          <a:bodyPr wrap="square" lIns="0" tIns="0" rIns="0" bIns="0" rtlCol="0" anchor="t"/>
          <a:lstStyle/>
          <a:p>
            <a:pPr indent="0" marL="0">
              <a:buNone/>
            </a:pPr>
            <a:r>
              <a:rPr lang="en-US" sz="1200" dirty="0">
                <a:solidFill>
                  <a:schemeClr val="tx1"/>
                </a:solidFill>
              </a:rPr>
              <a:t>python-telegram-bot · GitHub REST + webhooks · Slack · HMAC-signed auth</a:t>
            </a:r>
            <a:endParaRPr lang="en-US" sz="1200" dirty="0"/>
          </a:p>
        </p:txBody>
      </p:sp>
      <p:sp>
        <p:nvSpPr>
          <p:cNvPr id="55" name="Page number"/>
          <p:cNvSpPr txBox="1"/>
          <p:nvPr/>
        </p:nvSpPr>
        <p:spPr>
          <a:xfrm>
            <a:off x="11155680" y="6601968"/>
            <a:ext cx="457200" cy="256032"/>
          </a:xfrm>
          <a:prstGeom prst="rect">
            <a:avLst/>
          </a:prstGeom>
          <a:noFill/>
          <a:ln/>
        </p:spPr>
        <p:txBody>
          <a:bodyPr wrap="square" lIns="0" tIns="0" rIns="0" bIns="0" rtlCol="0" anchor="ctr"/>
          <a:lstStyle/>
          <a:p>
            <a:pPr algn="r" indent="0" marL="0">
              <a:buNone/>
            </a:pPr>
            <a:r>
              <a:rPr lang="en-US" sz="1400" b="1" dirty="0">
                <a:solidFill>
                  <a:schemeClr val="accent5"/>
                </a:solidFill>
                <a:latin typeface="Bookman Old Style" pitchFamily="34" charset="0"/>
                <a:ea typeface="Bookman Old Style" pitchFamily="34" charset="-122"/>
                <a:cs typeface="Bookman Old Style" pitchFamily="34" charset="-120"/>
              </a:rPr>
              <a:t>02</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1371600" y="256032"/>
            <a:ext cx="7955280" cy="502920"/>
          </a:xfrm>
          <a:prstGeom prst="rect">
            <a:avLst/>
          </a:prstGeom>
          <a:noFill/>
          <a:ln/>
        </p:spPr>
        <p:txBody>
          <a:bodyPr wrap="square" lIns="0" tIns="0" rIns="0" bIns="0" rtlCol="0" anchor="ctr"/>
          <a:lstStyle/>
          <a:p>
            <a:pPr algn="ctr" indent="0" marL="0">
              <a:buNone/>
            </a:pPr>
            <a:r>
              <a:rPr lang="en-US" sz="2400" b="1" dirty="0">
                <a:solidFill>
                  <a:schemeClr val="accent5"/>
                </a:solidFill>
                <a:latin typeface="Bookman Old Style" pitchFamily="34" charset="0"/>
                <a:ea typeface="Bookman Old Style" pitchFamily="34" charset="-122"/>
                <a:cs typeface="Bookman Old Style" pitchFamily="34" charset="-120"/>
              </a:rPr>
              <a:t>IMPACT AND BENEFITS</a:t>
            </a:r>
            <a:endParaRPr lang="en-US" sz="2400" dirty="0"/>
          </a:p>
        </p:txBody>
      </p:sp>
      <p:sp>
        <p:nvSpPr>
          <p:cNvPr id="3" name="Changes label"/>
          <p:cNvSpPr txBox="1"/>
          <p:nvPr/>
        </p:nvSpPr>
        <p:spPr>
          <a:xfrm>
            <a:off x="457200" y="1170432"/>
            <a:ext cx="5486400" cy="292608"/>
          </a:xfrm>
          <a:prstGeom prst="rect">
            <a:avLst/>
          </a:prstGeom>
          <a:noFill/>
          <a:ln/>
        </p:spPr>
        <p:txBody>
          <a:bodyPr wrap="square" lIns="0" tIns="0" rIns="0" bIns="0" rtlCol="0" anchor="ctr"/>
          <a:lstStyle/>
          <a:p>
            <a:pPr indent="0" marL="0">
              <a:buNone/>
            </a:pPr>
            <a:r>
              <a:rPr lang="en-US" sz="1400" b="1" spc="100" kern="0" dirty="0">
                <a:solidFill>
                  <a:schemeClr val="accent1"/>
                </a:solidFill>
                <a:latin typeface="Bookman Old Style" pitchFamily="34" charset="0"/>
                <a:ea typeface="Bookman Old Style" pitchFamily="34" charset="-122"/>
                <a:cs typeface="Bookman Old Style" pitchFamily="34" charset="-120"/>
              </a:rPr>
              <a:t>WHAT CHANGES FOR A TEAM</a:t>
            </a:r>
            <a:endParaRPr lang="en-US" sz="1400" dirty="0"/>
          </a:p>
        </p:txBody>
      </p:sp>
      <p:sp>
        <p:nvSpPr>
          <p:cNvPr id="4" name="Impact 1 card"/>
          <p:cNvSpPr/>
          <p:nvPr/>
        </p:nvSpPr>
        <p:spPr>
          <a:xfrm>
            <a:off x="457200" y="1508760"/>
            <a:ext cx="2651760" cy="2240280"/>
          </a:xfrm>
          <a:prstGeom prst="roundRect">
            <a:avLst>
              <a:gd name="adj" fmla="val 3265"/>
            </a:avLst>
          </a:prstGeom>
          <a:solidFill>
            <a:schemeClr val="bg1">
              <a:alpha val="75000"/>
            </a:schemeClr>
          </a:solidFill>
          <a:ln w="9525">
            <a:solidFill>
              <a:schemeClr val="accent2"/>
            </a:solidFill>
            <a:prstDash val="solid"/>
          </a:ln>
          <a:effectLst>
            <a:outerShdw sx="100000" sy="100000" kx="0" ky="0" algn="bl" rotWithShape="0" blurRad="76200" dist="25400" dir="5400000">
              <a:srgbClr val="3A1A0C">
                <a:alpha val="18000"/>
              </a:srgbClr>
            </a:outerShdw>
          </a:effectLst>
        </p:spPr>
      </p:sp>
      <p:sp>
        <p:nvSpPr>
          <p:cNvPr id="5" name="Impact 1 circle"/>
          <p:cNvSpPr/>
          <p:nvPr/>
        </p:nvSpPr>
        <p:spPr>
          <a:xfrm>
            <a:off x="640080" y="1664208"/>
            <a:ext cx="548640" cy="548640"/>
          </a:xfrm>
          <a:prstGeom prst="ellipse">
            <a:avLst/>
          </a:prstGeom>
          <a:solidFill>
            <a:schemeClr val="accent1"/>
          </a:solidFill>
          <a:ln w="12700">
            <a:solidFill>
              <a:schemeClr val="accent2"/>
            </a:solidFill>
            <a:prstDash val="solid"/>
          </a:ln>
        </p:spPr>
      </p:sp>
      <p:pic>
        <p:nvPicPr>
          <p:cNvPr id="6" name="Impact 1 icon" descr="preencoded.png">    </p:cNvPr>
          <p:cNvPicPr>
            <a:picLocks noChangeAspect="1"/>
          </p:cNvPicPr>
          <p:nvPr/>
        </p:nvPicPr>
        <p:blipFill>
          <a:blip r:embed="rId1"/>
          <a:stretch>
            <a:fillRect/>
          </a:stretch>
        </p:blipFill>
        <p:spPr>
          <a:xfrm>
            <a:off x="771754" y="1795882"/>
            <a:ext cx="285293" cy="285293"/>
          </a:xfrm>
          <a:prstGeom prst="rect">
            <a:avLst/>
          </a:prstGeom>
        </p:spPr>
      </p:pic>
      <p:sp>
        <p:nvSpPr>
          <p:cNvPr id="7" name="Impact 1 title"/>
          <p:cNvSpPr txBox="1"/>
          <p:nvPr/>
        </p:nvSpPr>
        <p:spPr>
          <a:xfrm>
            <a:off x="1298448" y="1664208"/>
            <a:ext cx="1719072" cy="548640"/>
          </a:xfrm>
          <a:prstGeom prst="rect">
            <a:avLst/>
          </a:prstGeom>
          <a:noFill/>
          <a:ln/>
        </p:spPr>
        <p:txBody>
          <a:bodyPr wrap="square" lIns="0" tIns="0" rIns="0" bIns="0" rtlCol="0" anchor="ctr"/>
          <a:lstStyle/>
          <a:p>
            <a:pPr indent="0" marL="0">
              <a:buNone/>
            </a:pPr>
            <a:r>
              <a:rPr lang="en-US" sz="1500" b="1" dirty="0">
                <a:solidFill>
                  <a:schemeClr val="accent1"/>
                </a:solidFill>
              </a:rPr>
              <a:t>No more chasing</a:t>
            </a:r>
            <a:endParaRPr lang="en-US" sz="1500" dirty="0"/>
          </a:p>
        </p:txBody>
      </p:sp>
      <p:sp>
        <p:nvSpPr>
          <p:cNvPr id="8" name="Impact 1 text"/>
          <p:cNvSpPr txBox="1"/>
          <p:nvPr/>
        </p:nvSpPr>
        <p:spPr>
          <a:xfrm>
            <a:off x="640080" y="2377440"/>
            <a:ext cx="2286000" cy="1280160"/>
          </a:xfrm>
          <a:prstGeom prst="rect">
            <a:avLst/>
          </a:prstGeom>
          <a:noFill/>
          <a:ln/>
        </p:spPr>
        <p:txBody>
          <a:bodyPr wrap="square" lIns="0" tIns="0" rIns="0" bIns="0" rtlCol="0" anchor="t"/>
          <a:lstStyle/>
          <a:p>
            <a:pPr indent="0" marL="0">
              <a:buNone/>
            </a:pPr>
            <a:r>
              <a:rPr lang="en-US" sz="1300" dirty="0">
                <a:solidFill>
                  <a:schemeClr val="tx1"/>
                </a:solidFill>
              </a:rPr>
              <a:t>Auto-Pilot follows up on its own and escalates blockers that pass their SLA.</a:t>
            </a:r>
            <a:endParaRPr lang="en-US" sz="1300" dirty="0"/>
          </a:p>
        </p:txBody>
      </p:sp>
      <p:sp>
        <p:nvSpPr>
          <p:cNvPr id="9" name="Impact 2 card"/>
          <p:cNvSpPr/>
          <p:nvPr/>
        </p:nvSpPr>
        <p:spPr>
          <a:xfrm>
            <a:off x="3331464" y="1508760"/>
            <a:ext cx="2651760" cy="2240280"/>
          </a:xfrm>
          <a:prstGeom prst="roundRect">
            <a:avLst>
              <a:gd name="adj" fmla="val 3265"/>
            </a:avLst>
          </a:prstGeom>
          <a:solidFill>
            <a:schemeClr val="bg1">
              <a:alpha val="75000"/>
            </a:schemeClr>
          </a:solidFill>
          <a:ln w="9525">
            <a:solidFill>
              <a:schemeClr val="accent2"/>
            </a:solidFill>
            <a:prstDash val="solid"/>
          </a:ln>
          <a:effectLst>
            <a:outerShdw sx="100000" sy="100000" kx="0" ky="0" algn="bl" rotWithShape="0" blurRad="76200" dist="25400" dir="5400000">
              <a:srgbClr val="3A1A0C">
                <a:alpha val="18000"/>
              </a:srgbClr>
            </a:outerShdw>
          </a:effectLst>
        </p:spPr>
      </p:sp>
      <p:sp>
        <p:nvSpPr>
          <p:cNvPr id="10" name="Impact 2 circle"/>
          <p:cNvSpPr/>
          <p:nvPr/>
        </p:nvSpPr>
        <p:spPr>
          <a:xfrm>
            <a:off x="3514344" y="1664208"/>
            <a:ext cx="548640" cy="548640"/>
          </a:xfrm>
          <a:prstGeom prst="ellipse">
            <a:avLst/>
          </a:prstGeom>
          <a:solidFill>
            <a:schemeClr val="accent1"/>
          </a:solidFill>
          <a:ln w="12700">
            <a:solidFill>
              <a:schemeClr val="accent2"/>
            </a:solidFill>
            <a:prstDash val="solid"/>
          </a:ln>
        </p:spPr>
      </p:sp>
      <p:pic>
        <p:nvPicPr>
          <p:cNvPr id="11" name="Impact 2 icon" descr="preencoded.png">    </p:cNvPr>
          <p:cNvPicPr>
            <a:picLocks noChangeAspect="1"/>
          </p:cNvPicPr>
          <p:nvPr/>
        </p:nvPicPr>
        <p:blipFill>
          <a:blip r:embed="rId2"/>
          <a:stretch>
            <a:fillRect/>
          </a:stretch>
        </p:blipFill>
        <p:spPr>
          <a:xfrm>
            <a:off x="3646018" y="1795882"/>
            <a:ext cx="285293" cy="285293"/>
          </a:xfrm>
          <a:prstGeom prst="rect">
            <a:avLst/>
          </a:prstGeom>
        </p:spPr>
      </p:pic>
      <p:sp>
        <p:nvSpPr>
          <p:cNvPr id="12" name="Impact 2 title"/>
          <p:cNvSpPr txBox="1"/>
          <p:nvPr/>
        </p:nvSpPr>
        <p:spPr>
          <a:xfrm>
            <a:off x="4172712" y="1664208"/>
            <a:ext cx="1719072" cy="548640"/>
          </a:xfrm>
          <a:prstGeom prst="rect">
            <a:avLst/>
          </a:prstGeom>
          <a:noFill/>
          <a:ln/>
        </p:spPr>
        <p:txBody>
          <a:bodyPr wrap="square" lIns="0" tIns="0" rIns="0" bIns="0" rtlCol="0" anchor="ctr"/>
          <a:lstStyle/>
          <a:p>
            <a:pPr indent="0" marL="0">
              <a:buNone/>
            </a:pPr>
            <a:r>
              <a:rPr lang="en-US" sz="1500" b="1" dirty="0">
                <a:solidFill>
                  <a:schemeClr val="accent1"/>
                </a:solidFill>
              </a:rPr>
              <a:t>Honest progress</a:t>
            </a:r>
            <a:endParaRPr lang="en-US" sz="1500" dirty="0"/>
          </a:p>
        </p:txBody>
      </p:sp>
      <p:sp>
        <p:nvSpPr>
          <p:cNvPr id="13" name="Impact 2 text"/>
          <p:cNvSpPr txBox="1"/>
          <p:nvPr/>
        </p:nvSpPr>
        <p:spPr>
          <a:xfrm>
            <a:off x="3514344" y="2377440"/>
            <a:ext cx="2286000" cy="1280160"/>
          </a:xfrm>
          <a:prstGeom prst="rect">
            <a:avLst/>
          </a:prstGeom>
          <a:noFill/>
          <a:ln/>
        </p:spPr>
        <p:txBody>
          <a:bodyPr wrap="square" lIns="0" tIns="0" rIns="0" bIns="0" rtlCol="0" anchor="t"/>
          <a:lstStyle/>
          <a:p>
            <a:pPr indent="0" marL="0">
              <a:buNone/>
            </a:pPr>
            <a:r>
              <a:rPr lang="en-US" sz="1300" dirty="0">
                <a:solidFill>
                  <a:schemeClr val="tx1"/>
                </a:solidFill>
              </a:rPr>
              <a:t>False “done” claims are refused; commits and links prove real work.</a:t>
            </a:r>
            <a:endParaRPr lang="en-US" sz="1300" dirty="0"/>
          </a:p>
        </p:txBody>
      </p:sp>
      <p:sp>
        <p:nvSpPr>
          <p:cNvPr id="14" name="Impact 3 card"/>
          <p:cNvSpPr/>
          <p:nvPr/>
        </p:nvSpPr>
        <p:spPr>
          <a:xfrm>
            <a:off x="6205728" y="1508760"/>
            <a:ext cx="2651760" cy="2240280"/>
          </a:xfrm>
          <a:prstGeom prst="roundRect">
            <a:avLst>
              <a:gd name="adj" fmla="val 3265"/>
            </a:avLst>
          </a:prstGeom>
          <a:solidFill>
            <a:schemeClr val="bg1">
              <a:alpha val="75000"/>
            </a:schemeClr>
          </a:solidFill>
          <a:ln w="9525">
            <a:solidFill>
              <a:schemeClr val="accent2"/>
            </a:solidFill>
            <a:prstDash val="solid"/>
          </a:ln>
          <a:effectLst>
            <a:outerShdw sx="100000" sy="100000" kx="0" ky="0" algn="bl" rotWithShape="0" blurRad="76200" dist="25400" dir="5400000">
              <a:srgbClr val="3A1A0C">
                <a:alpha val="18000"/>
              </a:srgbClr>
            </a:outerShdw>
          </a:effectLst>
        </p:spPr>
      </p:sp>
      <p:sp>
        <p:nvSpPr>
          <p:cNvPr id="15" name="Impact 3 circle"/>
          <p:cNvSpPr/>
          <p:nvPr/>
        </p:nvSpPr>
        <p:spPr>
          <a:xfrm>
            <a:off x="6388608" y="1664208"/>
            <a:ext cx="548640" cy="548640"/>
          </a:xfrm>
          <a:prstGeom prst="ellipse">
            <a:avLst/>
          </a:prstGeom>
          <a:solidFill>
            <a:schemeClr val="accent1"/>
          </a:solidFill>
          <a:ln w="12700">
            <a:solidFill>
              <a:schemeClr val="accent2"/>
            </a:solidFill>
            <a:prstDash val="solid"/>
          </a:ln>
        </p:spPr>
      </p:sp>
      <p:pic>
        <p:nvPicPr>
          <p:cNvPr id="16" name="Impact 3 icon" descr="preencoded.png">    </p:cNvPr>
          <p:cNvPicPr>
            <a:picLocks noChangeAspect="1"/>
          </p:cNvPicPr>
          <p:nvPr/>
        </p:nvPicPr>
        <p:blipFill>
          <a:blip r:embed="rId3"/>
          <a:stretch>
            <a:fillRect/>
          </a:stretch>
        </p:blipFill>
        <p:spPr>
          <a:xfrm>
            <a:off x="6520282" y="1795882"/>
            <a:ext cx="285293" cy="285293"/>
          </a:xfrm>
          <a:prstGeom prst="rect">
            <a:avLst/>
          </a:prstGeom>
        </p:spPr>
      </p:pic>
      <p:sp>
        <p:nvSpPr>
          <p:cNvPr id="17" name="Impact 3 title"/>
          <p:cNvSpPr txBox="1"/>
          <p:nvPr/>
        </p:nvSpPr>
        <p:spPr>
          <a:xfrm>
            <a:off x="7046976" y="1664208"/>
            <a:ext cx="1719072" cy="548640"/>
          </a:xfrm>
          <a:prstGeom prst="rect">
            <a:avLst/>
          </a:prstGeom>
          <a:noFill/>
          <a:ln/>
        </p:spPr>
        <p:txBody>
          <a:bodyPr wrap="square" lIns="0" tIns="0" rIns="0" bIns="0" rtlCol="0" anchor="ctr"/>
          <a:lstStyle/>
          <a:p>
            <a:pPr indent="0" marL="0">
              <a:buNone/>
            </a:pPr>
            <a:r>
              <a:rPr lang="en-US" sz="1500" b="1" dirty="0">
                <a:solidFill>
                  <a:schemeClr val="accent1"/>
                </a:solidFill>
              </a:rPr>
              <a:t>Faster unblocking</a:t>
            </a:r>
            <a:endParaRPr lang="en-US" sz="1500" dirty="0"/>
          </a:p>
        </p:txBody>
      </p:sp>
      <p:sp>
        <p:nvSpPr>
          <p:cNvPr id="18" name="Impact 3 text"/>
          <p:cNvSpPr txBox="1"/>
          <p:nvPr/>
        </p:nvSpPr>
        <p:spPr>
          <a:xfrm>
            <a:off x="6388608" y="2377440"/>
            <a:ext cx="2286000" cy="1280160"/>
          </a:xfrm>
          <a:prstGeom prst="rect">
            <a:avLst/>
          </a:prstGeom>
          <a:noFill/>
          <a:ln/>
        </p:spPr>
        <p:txBody>
          <a:bodyPr wrap="square" lIns="0" tIns="0" rIns="0" bIns="0" rtlCol="0" anchor="t"/>
          <a:lstStyle/>
          <a:p>
            <a:pPr indent="0" marL="0">
              <a:buNone/>
            </a:pPr>
            <a:r>
              <a:rPr lang="en-US" sz="1300" dirty="0">
                <a:solidFill>
                  <a:schemeClr val="tx1"/>
                </a:solidFill>
              </a:rPr>
              <a:t>Blockers go straight to the teammate who can fix them, and work resumes automatically.</a:t>
            </a:r>
            <a:endParaRPr lang="en-US" sz="1300" dirty="0"/>
          </a:p>
        </p:txBody>
      </p:sp>
      <p:sp>
        <p:nvSpPr>
          <p:cNvPr id="19" name="Impact 4 card"/>
          <p:cNvSpPr/>
          <p:nvPr/>
        </p:nvSpPr>
        <p:spPr>
          <a:xfrm>
            <a:off x="9079992" y="1508760"/>
            <a:ext cx="2651760" cy="2240280"/>
          </a:xfrm>
          <a:prstGeom prst="roundRect">
            <a:avLst>
              <a:gd name="adj" fmla="val 3265"/>
            </a:avLst>
          </a:prstGeom>
          <a:solidFill>
            <a:schemeClr val="bg1">
              <a:alpha val="75000"/>
            </a:schemeClr>
          </a:solidFill>
          <a:ln w="9525">
            <a:solidFill>
              <a:schemeClr val="accent2"/>
            </a:solidFill>
            <a:prstDash val="solid"/>
          </a:ln>
          <a:effectLst>
            <a:outerShdw sx="100000" sy="100000" kx="0" ky="0" algn="bl" rotWithShape="0" blurRad="76200" dist="25400" dir="5400000">
              <a:srgbClr val="3A1A0C">
                <a:alpha val="18000"/>
              </a:srgbClr>
            </a:outerShdw>
          </a:effectLst>
        </p:spPr>
      </p:sp>
      <p:sp>
        <p:nvSpPr>
          <p:cNvPr id="20" name="Impact 4 circle"/>
          <p:cNvSpPr/>
          <p:nvPr/>
        </p:nvSpPr>
        <p:spPr>
          <a:xfrm>
            <a:off x="9262872" y="1664208"/>
            <a:ext cx="548640" cy="548640"/>
          </a:xfrm>
          <a:prstGeom prst="ellipse">
            <a:avLst/>
          </a:prstGeom>
          <a:solidFill>
            <a:schemeClr val="accent1"/>
          </a:solidFill>
          <a:ln w="12700">
            <a:solidFill>
              <a:schemeClr val="accent2"/>
            </a:solidFill>
            <a:prstDash val="solid"/>
          </a:ln>
        </p:spPr>
      </p:sp>
      <p:pic>
        <p:nvPicPr>
          <p:cNvPr id="21" name="Impact 4 icon" descr="preencoded.png">    </p:cNvPr>
          <p:cNvPicPr>
            <a:picLocks noChangeAspect="1"/>
          </p:cNvPicPr>
          <p:nvPr/>
        </p:nvPicPr>
        <p:blipFill>
          <a:blip r:embed="rId4"/>
          <a:stretch>
            <a:fillRect/>
          </a:stretch>
        </p:blipFill>
        <p:spPr>
          <a:xfrm>
            <a:off x="9394546" y="1795882"/>
            <a:ext cx="285293" cy="285293"/>
          </a:xfrm>
          <a:prstGeom prst="rect">
            <a:avLst/>
          </a:prstGeom>
        </p:spPr>
      </p:pic>
      <p:sp>
        <p:nvSpPr>
          <p:cNvPr id="22" name="Impact 4 title"/>
          <p:cNvSpPr txBox="1"/>
          <p:nvPr/>
        </p:nvSpPr>
        <p:spPr>
          <a:xfrm>
            <a:off x="9921240" y="1664208"/>
            <a:ext cx="1719072" cy="548640"/>
          </a:xfrm>
          <a:prstGeom prst="rect">
            <a:avLst/>
          </a:prstGeom>
          <a:noFill/>
          <a:ln/>
        </p:spPr>
        <p:txBody>
          <a:bodyPr wrap="square" lIns="0" tIns="0" rIns="0" bIns="0" rtlCol="0" anchor="ctr"/>
          <a:lstStyle/>
          <a:p>
            <a:pPr indent="0" marL="0">
              <a:buNone/>
            </a:pPr>
            <a:r>
              <a:rPr lang="en-US" sz="1500" b="1" dirty="0">
                <a:solidFill>
                  <a:schemeClr val="accent1"/>
                </a:solidFill>
              </a:rPr>
              <a:t>Always on</a:t>
            </a:r>
            <a:endParaRPr lang="en-US" sz="1500" dirty="0"/>
          </a:p>
        </p:txBody>
      </p:sp>
      <p:sp>
        <p:nvSpPr>
          <p:cNvPr id="23" name="Impact 4 text"/>
          <p:cNvSpPr txBox="1"/>
          <p:nvPr/>
        </p:nvSpPr>
        <p:spPr>
          <a:xfrm>
            <a:off x="9262872" y="2377440"/>
            <a:ext cx="2286000" cy="1280160"/>
          </a:xfrm>
          <a:prstGeom prst="rect">
            <a:avLst/>
          </a:prstGeom>
          <a:noFill/>
          <a:ln/>
        </p:spPr>
        <p:txBody>
          <a:bodyPr wrap="square" lIns="0" tIns="0" rIns="0" bIns="0" rtlCol="0" anchor="t"/>
          <a:lstStyle/>
          <a:p>
            <a:pPr indent="0" marL="0">
              <a:buNone/>
            </a:pPr>
            <a:r>
              <a:rPr lang="en-US" sz="1300" dirty="0">
                <a:solidFill>
                  <a:schemeClr val="tx1"/>
                </a:solidFill>
              </a:rPr>
              <a:t>Works on Telegram, phones and laptops, with offline AI when the Wi-Fi drops.</a:t>
            </a:r>
            <a:endParaRPr lang="en-US" sz="1300" dirty="0"/>
          </a:p>
        </p:txBody>
      </p:sp>
      <p:sp>
        <p:nvSpPr>
          <p:cNvPr id="24" name="Who label"/>
          <p:cNvSpPr txBox="1"/>
          <p:nvPr/>
        </p:nvSpPr>
        <p:spPr>
          <a:xfrm>
            <a:off x="457200" y="3931920"/>
            <a:ext cx="5486400" cy="292608"/>
          </a:xfrm>
          <a:prstGeom prst="rect">
            <a:avLst/>
          </a:prstGeom>
          <a:noFill/>
          <a:ln/>
        </p:spPr>
        <p:txBody>
          <a:bodyPr wrap="square" lIns="0" tIns="0" rIns="0" bIns="0" rtlCol="0" anchor="ctr"/>
          <a:lstStyle/>
          <a:p>
            <a:pPr indent="0" marL="0">
              <a:buNone/>
            </a:pPr>
            <a:r>
              <a:rPr lang="en-US" sz="1400" b="1" spc="100" kern="0" dirty="0">
                <a:solidFill>
                  <a:schemeClr val="accent1"/>
                </a:solidFill>
                <a:latin typeface="Bookman Old Style" pitchFamily="34" charset="0"/>
                <a:ea typeface="Bookman Old Style" pitchFamily="34" charset="-122"/>
                <a:cs typeface="Bookman Old Style" pitchFamily="34" charset="-120"/>
              </a:rPr>
              <a:t>WHO BENEFITS</a:t>
            </a:r>
            <a:endParaRPr lang="en-US" sz="1400" dirty="0"/>
          </a:p>
        </p:txBody>
      </p:sp>
      <p:sp>
        <p:nvSpPr>
          <p:cNvPr id="25" name="Who 1 card"/>
          <p:cNvSpPr/>
          <p:nvPr/>
        </p:nvSpPr>
        <p:spPr>
          <a:xfrm>
            <a:off x="457200" y="4270248"/>
            <a:ext cx="3639312" cy="2039112"/>
          </a:xfrm>
          <a:prstGeom prst="roundRect">
            <a:avLst>
              <a:gd name="adj" fmla="val 3587"/>
            </a:avLst>
          </a:prstGeom>
          <a:solidFill>
            <a:schemeClr val="bg1">
              <a:alpha val="75000"/>
            </a:schemeClr>
          </a:solidFill>
          <a:ln w="9525">
            <a:solidFill>
              <a:schemeClr val="accent2"/>
            </a:solidFill>
            <a:prstDash val="solid"/>
          </a:ln>
          <a:effectLst>
            <a:outerShdw sx="100000" sy="100000" kx="0" ky="0" algn="bl" rotWithShape="0" blurRad="76200" dist="25400" dir="5400000">
              <a:srgbClr val="3A1A0C">
                <a:alpha val="18000"/>
              </a:srgbClr>
            </a:outerShdw>
          </a:effectLst>
        </p:spPr>
      </p:sp>
      <p:sp>
        <p:nvSpPr>
          <p:cNvPr id="26" name="Who 1 circle"/>
          <p:cNvSpPr/>
          <p:nvPr/>
        </p:nvSpPr>
        <p:spPr>
          <a:xfrm>
            <a:off x="640080" y="4407408"/>
            <a:ext cx="457200" cy="457200"/>
          </a:xfrm>
          <a:prstGeom prst="ellipse">
            <a:avLst/>
          </a:prstGeom>
          <a:solidFill>
            <a:schemeClr val="accent1"/>
          </a:solidFill>
          <a:ln w="12700">
            <a:solidFill>
              <a:schemeClr val="accent2"/>
            </a:solidFill>
            <a:prstDash val="solid"/>
          </a:ln>
        </p:spPr>
      </p:sp>
      <p:pic>
        <p:nvPicPr>
          <p:cNvPr id="27" name="Who 1 icon" descr="preencoded.png">    </p:cNvPr>
          <p:cNvPicPr>
            <a:picLocks noChangeAspect="1"/>
          </p:cNvPicPr>
          <p:nvPr/>
        </p:nvPicPr>
        <p:blipFill>
          <a:blip r:embed="rId5"/>
          <a:stretch>
            <a:fillRect/>
          </a:stretch>
        </p:blipFill>
        <p:spPr>
          <a:xfrm>
            <a:off x="749808" y="4517136"/>
            <a:ext cx="237744" cy="237744"/>
          </a:xfrm>
          <a:prstGeom prst="rect">
            <a:avLst/>
          </a:prstGeom>
        </p:spPr>
      </p:pic>
      <p:sp>
        <p:nvSpPr>
          <p:cNvPr id="28" name="Who 1 title"/>
          <p:cNvSpPr txBox="1"/>
          <p:nvPr/>
        </p:nvSpPr>
        <p:spPr>
          <a:xfrm>
            <a:off x="1207008" y="4407408"/>
            <a:ext cx="2724912" cy="457200"/>
          </a:xfrm>
          <a:prstGeom prst="rect">
            <a:avLst/>
          </a:prstGeom>
          <a:noFill/>
          <a:ln/>
        </p:spPr>
        <p:txBody>
          <a:bodyPr wrap="square" lIns="0" tIns="0" rIns="0" bIns="0" rtlCol="0" anchor="ctr"/>
          <a:lstStyle/>
          <a:p>
            <a:pPr indent="0" marL="0">
              <a:buNone/>
            </a:pPr>
            <a:r>
              <a:rPr lang="en-US" sz="1500" b="1" dirty="0">
                <a:solidFill>
                  <a:schemeClr val="accent1"/>
                </a:solidFill>
              </a:rPr>
              <a:t>College teams</a:t>
            </a:r>
            <a:endParaRPr lang="en-US" sz="1500" dirty="0"/>
          </a:p>
        </p:txBody>
      </p:sp>
      <p:sp>
        <p:nvSpPr>
          <p:cNvPr id="29" name="Who 1 text"/>
          <p:cNvSpPr txBox="1"/>
          <p:nvPr/>
        </p:nvSpPr>
        <p:spPr>
          <a:xfrm>
            <a:off x="640080" y="4983480"/>
            <a:ext cx="3273552" cy="1234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Fair, visible contribution from every teammate</a:t>
            </a:r>
            <a:endParaRPr lang="en-US" sz="1300" dirty="0"/>
          </a:p>
          <a:p>
            <a:pPr marL="342900" indent="-342900">
              <a:spcAft>
                <a:spcPts val="600"/>
              </a:spcAft>
              <a:buSzPct val="100000"/>
              <a:buChar char="•"/>
            </a:pPr>
            <a:r>
              <a:rPr lang="en-US" sz="1300" dirty="0">
                <a:solidFill>
                  <a:schemeClr val="tx1"/>
                </a:solidFill>
              </a:rPr>
              <a:t>Faculty see real progress, not last-minute claims</a:t>
            </a:r>
            <a:endParaRPr lang="en-US" sz="1300" dirty="0"/>
          </a:p>
        </p:txBody>
      </p:sp>
      <p:sp>
        <p:nvSpPr>
          <p:cNvPr id="30" name="Who 2 card"/>
          <p:cNvSpPr/>
          <p:nvPr/>
        </p:nvSpPr>
        <p:spPr>
          <a:xfrm>
            <a:off x="4274820" y="4270248"/>
            <a:ext cx="3639312" cy="2039112"/>
          </a:xfrm>
          <a:prstGeom prst="roundRect">
            <a:avLst>
              <a:gd name="adj" fmla="val 3587"/>
            </a:avLst>
          </a:prstGeom>
          <a:solidFill>
            <a:schemeClr val="bg1">
              <a:alpha val="75000"/>
            </a:schemeClr>
          </a:solidFill>
          <a:ln w="9525">
            <a:solidFill>
              <a:schemeClr val="accent2"/>
            </a:solidFill>
            <a:prstDash val="solid"/>
          </a:ln>
          <a:effectLst>
            <a:outerShdw sx="100000" sy="100000" kx="0" ky="0" algn="bl" rotWithShape="0" blurRad="76200" dist="25400" dir="5400000">
              <a:srgbClr val="3A1A0C">
                <a:alpha val="18000"/>
              </a:srgbClr>
            </a:outerShdw>
          </a:effectLst>
        </p:spPr>
      </p:sp>
      <p:sp>
        <p:nvSpPr>
          <p:cNvPr id="31" name="Who 2 circle"/>
          <p:cNvSpPr/>
          <p:nvPr/>
        </p:nvSpPr>
        <p:spPr>
          <a:xfrm>
            <a:off x="4457700" y="4407408"/>
            <a:ext cx="457200" cy="457200"/>
          </a:xfrm>
          <a:prstGeom prst="ellipse">
            <a:avLst/>
          </a:prstGeom>
          <a:solidFill>
            <a:schemeClr val="accent1"/>
          </a:solidFill>
          <a:ln w="12700">
            <a:solidFill>
              <a:schemeClr val="accent2"/>
            </a:solidFill>
            <a:prstDash val="solid"/>
          </a:ln>
        </p:spPr>
      </p:sp>
      <p:pic>
        <p:nvPicPr>
          <p:cNvPr id="32" name="Who 2 icon" descr="preencoded.png">    </p:cNvPr>
          <p:cNvPicPr>
            <a:picLocks noChangeAspect="1"/>
          </p:cNvPicPr>
          <p:nvPr/>
        </p:nvPicPr>
        <p:blipFill>
          <a:blip r:embed="rId6"/>
          <a:stretch>
            <a:fillRect/>
          </a:stretch>
        </p:blipFill>
        <p:spPr>
          <a:xfrm>
            <a:off x="4567428" y="4517136"/>
            <a:ext cx="237744" cy="237744"/>
          </a:xfrm>
          <a:prstGeom prst="rect">
            <a:avLst/>
          </a:prstGeom>
        </p:spPr>
      </p:pic>
      <p:sp>
        <p:nvSpPr>
          <p:cNvPr id="33" name="Who 2 title"/>
          <p:cNvSpPr txBox="1"/>
          <p:nvPr/>
        </p:nvSpPr>
        <p:spPr>
          <a:xfrm>
            <a:off x="5024628" y="4407408"/>
            <a:ext cx="2724912" cy="457200"/>
          </a:xfrm>
          <a:prstGeom prst="rect">
            <a:avLst/>
          </a:prstGeom>
          <a:noFill/>
          <a:ln/>
        </p:spPr>
        <p:txBody>
          <a:bodyPr wrap="square" lIns="0" tIns="0" rIns="0" bIns="0" rtlCol="0" anchor="ctr"/>
          <a:lstStyle/>
          <a:p>
            <a:pPr indent="0" marL="0">
              <a:buNone/>
            </a:pPr>
            <a:r>
              <a:rPr lang="en-US" sz="1500" b="1" dirty="0">
                <a:solidFill>
                  <a:schemeClr val="accent1"/>
                </a:solidFill>
              </a:rPr>
              <a:t>Company sprints</a:t>
            </a:r>
            <a:endParaRPr lang="en-US" sz="1500" dirty="0"/>
          </a:p>
        </p:txBody>
      </p:sp>
      <p:sp>
        <p:nvSpPr>
          <p:cNvPr id="34" name="Who 2 text"/>
          <p:cNvSpPr txBox="1"/>
          <p:nvPr/>
        </p:nvSpPr>
        <p:spPr>
          <a:xfrm>
            <a:off x="4457700" y="4983480"/>
            <a:ext cx="3273552" cy="1234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Standup and risk report generated automatically</a:t>
            </a:r>
            <a:endParaRPr lang="en-US" sz="1300" dirty="0"/>
          </a:p>
          <a:p>
            <a:pPr marL="342900" indent="-342900">
              <a:spcAft>
                <a:spcPts val="600"/>
              </a:spcAft>
              <a:buSzPct val="100000"/>
              <a:buChar char="•"/>
            </a:pPr>
            <a:r>
              <a:rPr lang="en-US" sz="1300" dirty="0">
                <a:solidFill>
                  <a:schemeClr val="tx1"/>
                </a:solidFill>
              </a:rPr>
              <a:t>Jira / Linear CSV and GitHub commits feed the board</a:t>
            </a:r>
            <a:endParaRPr lang="en-US" sz="1300" dirty="0"/>
          </a:p>
        </p:txBody>
      </p:sp>
      <p:sp>
        <p:nvSpPr>
          <p:cNvPr id="35" name="Who 3 card"/>
          <p:cNvSpPr/>
          <p:nvPr/>
        </p:nvSpPr>
        <p:spPr>
          <a:xfrm>
            <a:off x="8092440" y="4270248"/>
            <a:ext cx="3639312" cy="2039112"/>
          </a:xfrm>
          <a:prstGeom prst="roundRect">
            <a:avLst>
              <a:gd name="adj" fmla="val 3587"/>
            </a:avLst>
          </a:prstGeom>
          <a:solidFill>
            <a:schemeClr val="bg1">
              <a:alpha val="75000"/>
            </a:schemeClr>
          </a:solidFill>
          <a:ln w="9525">
            <a:solidFill>
              <a:schemeClr val="accent2"/>
            </a:solidFill>
            <a:prstDash val="solid"/>
          </a:ln>
          <a:effectLst>
            <a:outerShdw sx="100000" sy="100000" kx="0" ky="0" algn="bl" rotWithShape="0" blurRad="76200" dist="25400" dir="5400000">
              <a:srgbClr val="3A1A0C">
                <a:alpha val="18000"/>
              </a:srgbClr>
            </a:outerShdw>
          </a:effectLst>
        </p:spPr>
      </p:sp>
      <p:sp>
        <p:nvSpPr>
          <p:cNvPr id="36" name="Who 3 circle"/>
          <p:cNvSpPr/>
          <p:nvPr/>
        </p:nvSpPr>
        <p:spPr>
          <a:xfrm>
            <a:off x="8275320" y="4407408"/>
            <a:ext cx="457200" cy="457200"/>
          </a:xfrm>
          <a:prstGeom prst="ellipse">
            <a:avLst/>
          </a:prstGeom>
          <a:solidFill>
            <a:schemeClr val="accent1"/>
          </a:solidFill>
          <a:ln w="12700">
            <a:solidFill>
              <a:schemeClr val="accent2"/>
            </a:solidFill>
            <a:prstDash val="solid"/>
          </a:ln>
        </p:spPr>
      </p:sp>
      <p:pic>
        <p:nvPicPr>
          <p:cNvPr id="37" name="Who 3 icon" descr="preencoded.png">    </p:cNvPr>
          <p:cNvPicPr>
            <a:picLocks noChangeAspect="1"/>
          </p:cNvPicPr>
          <p:nvPr/>
        </p:nvPicPr>
        <p:blipFill>
          <a:blip r:embed="rId7"/>
          <a:stretch>
            <a:fillRect/>
          </a:stretch>
        </p:blipFill>
        <p:spPr>
          <a:xfrm>
            <a:off x="8385048" y="4517136"/>
            <a:ext cx="237744" cy="237744"/>
          </a:xfrm>
          <a:prstGeom prst="rect">
            <a:avLst/>
          </a:prstGeom>
        </p:spPr>
      </p:pic>
      <p:sp>
        <p:nvSpPr>
          <p:cNvPr id="38" name="Who 3 title"/>
          <p:cNvSpPr txBox="1"/>
          <p:nvPr/>
        </p:nvSpPr>
        <p:spPr>
          <a:xfrm>
            <a:off x="8842248" y="4407408"/>
            <a:ext cx="2724912" cy="457200"/>
          </a:xfrm>
          <a:prstGeom prst="rect">
            <a:avLst/>
          </a:prstGeom>
          <a:noFill/>
          <a:ln/>
        </p:spPr>
        <p:txBody>
          <a:bodyPr wrap="square" lIns="0" tIns="0" rIns="0" bIns="0" rtlCol="0" anchor="ctr"/>
          <a:lstStyle/>
          <a:p>
            <a:pPr indent="0" marL="0">
              <a:buNone/>
            </a:pPr>
            <a:r>
              <a:rPr lang="en-US" sz="1500" b="1" dirty="0">
                <a:solidFill>
                  <a:schemeClr val="accent1"/>
                </a:solidFill>
              </a:rPr>
              <a:t>Leads &amp; managers</a:t>
            </a:r>
            <a:endParaRPr lang="en-US" sz="1500" dirty="0"/>
          </a:p>
        </p:txBody>
      </p:sp>
      <p:sp>
        <p:nvSpPr>
          <p:cNvPr id="39" name="Who 3 text"/>
          <p:cNvSpPr txBox="1"/>
          <p:nvPr/>
        </p:nvSpPr>
        <p:spPr>
          <a:xfrm>
            <a:off x="8275320" y="4983480"/>
            <a:ext cx="3273552" cy="1234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Health score, bottlenecks and at-risk work at a glance</a:t>
            </a:r>
            <a:endParaRPr lang="en-US" sz="1300" dirty="0"/>
          </a:p>
          <a:p>
            <a:pPr marL="342900" indent="-342900">
              <a:spcAft>
                <a:spcPts val="600"/>
              </a:spcAft>
              <a:buSzPct val="100000"/>
              <a:buChar char="•"/>
            </a:pPr>
            <a:r>
              <a:rPr lang="en-US" sz="1300" dirty="0">
                <a:solidFill>
                  <a:schemeClr val="tx1"/>
                </a:solidFill>
              </a:rPr>
              <a:t>Escalations only when a blocker is truly stuck</a:t>
            </a:r>
            <a:endParaRPr lang="en-US" sz="1300" dirty="0"/>
          </a:p>
        </p:txBody>
      </p:sp>
      <p:sp>
        <p:nvSpPr>
          <p:cNvPr id="40" name="Page number"/>
          <p:cNvSpPr txBox="1"/>
          <p:nvPr/>
        </p:nvSpPr>
        <p:spPr>
          <a:xfrm>
            <a:off x="11155680" y="6601968"/>
            <a:ext cx="457200" cy="256032"/>
          </a:xfrm>
          <a:prstGeom prst="rect">
            <a:avLst/>
          </a:prstGeom>
          <a:noFill/>
          <a:ln/>
        </p:spPr>
        <p:txBody>
          <a:bodyPr wrap="square" lIns="0" tIns="0" rIns="0" bIns="0" rtlCol="0" anchor="ctr"/>
          <a:lstStyle/>
          <a:p>
            <a:pPr algn="r" indent="0" marL="0">
              <a:buNone/>
            </a:pPr>
            <a:r>
              <a:rPr lang="en-US" sz="1400" b="1" dirty="0">
                <a:solidFill>
                  <a:schemeClr val="accent5"/>
                </a:solidFill>
                <a:latin typeface="Bookman Old Style" pitchFamily="34" charset="0"/>
                <a:ea typeface="Bookman Old Style" pitchFamily="34" charset="-122"/>
                <a:cs typeface="Bookman Old Style" pitchFamily="34" charset="-120"/>
              </a:rPr>
              <a:t>03</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1371600" y="256032"/>
            <a:ext cx="7955280" cy="502920"/>
          </a:xfrm>
          <a:prstGeom prst="rect">
            <a:avLst/>
          </a:prstGeom>
          <a:noFill/>
          <a:ln/>
        </p:spPr>
        <p:txBody>
          <a:bodyPr wrap="square" lIns="0" tIns="0" rIns="0" bIns="0" rtlCol="0" anchor="ctr"/>
          <a:lstStyle/>
          <a:p>
            <a:pPr algn="ctr" indent="0" marL="0">
              <a:buNone/>
            </a:pPr>
            <a:r>
              <a:rPr lang="en-US" sz="2400" b="1" dirty="0">
                <a:solidFill>
                  <a:schemeClr val="accent5"/>
                </a:solidFill>
                <a:latin typeface="Bookman Old Style" pitchFamily="34" charset="0"/>
                <a:ea typeface="Bookman Old Style" pitchFamily="34" charset="-122"/>
                <a:cs typeface="Bookman Old Style" pitchFamily="34" charset="-120"/>
              </a:rPr>
              <a:t>FUTURE SCOPE &amp; CHALLENGES</a:t>
            </a:r>
            <a:endParaRPr lang="en-US" sz="2400" dirty="0"/>
          </a:p>
        </p:txBody>
      </p:sp>
      <p:sp>
        <p:nvSpPr>
          <p:cNvPr id="3" name="Future scope card"/>
          <p:cNvSpPr/>
          <p:nvPr/>
        </p:nvSpPr>
        <p:spPr>
          <a:xfrm>
            <a:off x="457200" y="1188720"/>
            <a:ext cx="5486400" cy="5120640"/>
          </a:xfrm>
          <a:prstGeom prst="roundRect">
            <a:avLst>
              <a:gd name="adj" fmla="val 1429"/>
            </a:avLst>
          </a:prstGeom>
          <a:solidFill>
            <a:schemeClr val="bg1">
              <a:alpha val="75000"/>
            </a:schemeClr>
          </a:solidFill>
          <a:ln w="9525">
            <a:solidFill>
              <a:schemeClr val="accent2"/>
            </a:solidFill>
            <a:prstDash val="solid"/>
          </a:ln>
          <a:effectLst>
            <a:outerShdw sx="100000" sy="100000" kx="0" ky="0" algn="bl" rotWithShape="0" blurRad="76200" dist="25400" dir="5400000">
              <a:srgbClr val="3A1A0C">
                <a:alpha val="18000"/>
              </a:srgbClr>
            </a:outerShdw>
          </a:effectLst>
        </p:spPr>
      </p:sp>
      <p:sp>
        <p:nvSpPr>
          <p:cNvPr id="4" name="Future scope label"/>
          <p:cNvSpPr txBox="1"/>
          <p:nvPr/>
        </p:nvSpPr>
        <p:spPr>
          <a:xfrm>
            <a:off x="685800" y="1280160"/>
            <a:ext cx="5029200" cy="292608"/>
          </a:xfrm>
          <a:prstGeom prst="rect">
            <a:avLst/>
          </a:prstGeom>
          <a:noFill/>
          <a:ln/>
        </p:spPr>
        <p:txBody>
          <a:bodyPr wrap="square" lIns="0" tIns="0" rIns="0" bIns="0" rtlCol="0" anchor="ctr"/>
          <a:lstStyle/>
          <a:p>
            <a:pPr indent="0" marL="0">
              <a:buNone/>
            </a:pPr>
            <a:r>
              <a:rPr lang="en-US" sz="1400" b="1" spc="100" kern="0" dirty="0">
                <a:solidFill>
                  <a:schemeClr val="accent1"/>
                </a:solidFill>
                <a:latin typeface="Bookman Old Style" pitchFamily="34" charset="0"/>
                <a:ea typeface="Bookman Old Style" pitchFamily="34" charset="-122"/>
                <a:cs typeface="Bookman Old Style" pitchFamily="34" charset="-120"/>
              </a:rPr>
              <a:t>FUTURE SCOPE</a:t>
            </a:r>
            <a:endParaRPr lang="en-US" sz="1400" dirty="0"/>
          </a:p>
        </p:txBody>
      </p:sp>
      <p:sp>
        <p:nvSpPr>
          <p:cNvPr id="5" name="Future 1 circle"/>
          <p:cNvSpPr/>
          <p:nvPr/>
        </p:nvSpPr>
        <p:spPr>
          <a:xfrm>
            <a:off x="685800" y="1719072"/>
            <a:ext cx="457200" cy="457200"/>
          </a:xfrm>
          <a:prstGeom prst="ellipse">
            <a:avLst/>
          </a:prstGeom>
          <a:solidFill>
            <a:schemeClr val="accent1"/>
          </a:solidFill>
          <a:ln w="12700">
            <a:solidFill>
              <a:schemeClr val="accent2"/>
            </a:solidFill>
            <a:prstDash val="solid"/>
          </a:ln>
        </p:spPr>
      </p:sp>
      <p:pic>
        <p:nvPicPr>
          <p:cNvPr id="6" name="Future 1 icon" descr="preencoded.png">    </p:cNvPr>
          <p:cNvPicPr>
            <a:picLocks noChangeAspect="1"/>
          </p:cNvPicPr>
          <p:nvPr/>
        </p:nvPicPr>
        <p:blipFill>
          <a:blip r:embed="rId1"/>
          <a:stretch>
            <a:fillRect/>
          </a:stretch>
        </p:blipFill>
        <p:spPr>
          <a:xfrm>
            <a:off x="795528" y="1828800"/>
            <a:ext cx="237744" cy="237744"/>
          </a:xfrm>
          <a:prstGeom prst="rect">
            <a:avLst/>
          </a:prstGeom>
        </p:spPr>
      </p:pic>
      <p:sp>
        <p:nvSpPr>
          <p:cNvPr id="7" name="Future 1 text"/>
          <p:cNvSpPr txBox="1"/>
          <p:nvPr/>
        </p:nvSpPr>
        <p:spPr>
          <a:xfrm>
            <a:off x="1325880" y="1719072"/>
            <a:ext cx="4434840" cy="457200"/>
          </a:xfrm>
          <a:prstGeom prst="rect">
            <a:avLst/>
          </a:prstGeom>
          <a:noFill/>
          <a:ln/>
        </p:spPr>
        <p:txBody>
          <a:bodyPr wrap="square" lIns="0" tIns="0" rIns="0" bIns="0" rtlCol="0" anchor="ctr"/>
          <a:lstStyle/>
          <a:p>
            <a:pPr indent="0" marL="0">
              <a:buNone/>
            </a:pPr>
            <a:r>
              <a:rPr lang="en-US" sz="1400" dirty="0">
                <a:solidFill>
                  <a:schemeClr val="tx1"/>
                </a:solidFill>
              </a:rPr>
              <a:t>Two-way Jira, Linear and Slack sync</a:t>
            </a:r>
            <a:endParaRPr lang="en-US" sz="1400" dirty="0"/>
          </a:p>
        </p:txBody>
      </p:sp>
      <p:sp>
        <p:nvSpPr>
          <p:cNvPr id="8" name="Future 2 circle"/>
          <p:cNvSpPr/>
          <p:nvPr/>
        </p:nvSpPr>
        <p:spPr>
          <a:xfrm>
            <a:off x="685800" y="2468880"/>
            <a:ext cx="457200" cy="457200"/>
          </a:xfrm>
          <a:prstGeom prst="ellipse">
            <a:avLst/>
          </a:prstGeom>
          <a:solidFill>
            <a:schemeClr val="accent1"/>
          </a:solidFill>
          <a:ln w="12700">
            <a:solidFill>
              <a:schemeClr val="accent2"/>
            </a:solidFill>
            <a:prstDash val="solid"/>
          </a:ln>
        </p:spPr>
      </p:sp>
      <p:pic>
        <p:nvPicPr>
          <p:cNvPr id="9" name="Future 2 icon" descr="preencoded.png">    </p:cNvPr>
          <p:cNvPicPr>
            <a:picLocks noChangeAspect="1"/>
          </p:cNvPicPr>
          <p:nvPr/>
        </p:nvPicPr>
        <p:blipFill>
          <a:blip r:embed="rId2"/>
          <a:stretch>
            <a:fillRect/>
          </a:stretch>
        </p:blipFill>
        <p:spPr>
          <a:xfrm>
            <a:off x="795528" y="2578608"/>
            <a:ext cx="237744" cy="237744"/>
          </a:xfrm>
          <a:prstGeom prst="rect">
            <a:avLst/>
          </a:prstGeom>
        </p:spPr>
      </p:pic>
      <p:sp>
        <p:nvSpPr>
          <p:cNvPr id="10" name="Future 2 text"/>
          <p:cNvSpPr txBox="1"/>
          <p:nvPr/>
        </p:nvSpPr>
        <p:spPr>
          <a:xfrm>
            <a:off x="1325880" y="2468880"/>
            <a:ext cx="4434840" cy="457200"/>
          </a:xfrm>
          <a:prstGeom prst="rect">
            <a:avLst/>
          </a:prstGeom>
          <a:noFill/>
          <a:ln/>
        </p:spPr>
        <p:txBody>
          <a:bodyPr wrap="square" lIns="0" tIns="0" rIns="0" bIns="0" rtlCol="0" anchor="ctr"/>
          <a:lstStyle/>
          <a:p>
            <a:pPr indent="0" marL="0">
              <a:buNone/>
            </a:pPr>
            <a:r>
              <a:rPr lang="en-US" sz="1400" dirty="0">
                <a:solidFill>
                  <a:schemeClr val="tx1"/>
                </a:solidFill>
              </a:rPr>
              <a:t>WhatsApp and Microsoft Teams bots</a:t>
            </a:r>
            <a:endParaRPr lang="en-US" sz="1400" dirty="0"/>
          </a:p>
        </p:txBody>
      </p:sp>
      <p:sp>
        <p:nvSpPr>
          <p:cNvPr id="11" name="Future 3 circle"/>
          <p:cNvSpPr/>
          <p:nvPr/>
        </p:nvSpPr>
        <p:spPr>
          <a:xfrm>
            <a:off x="685800" y="3218688"/>
            <a:ext cx="457200" cy="457200"/>
          </a:xfrm>
          <a:prstGeom prst="ellipse">
            <a:avLst/>
          </a:prstGeom>
          <a:solidFill>
            <a:schemeClr val="accent1"/>
          </a:solidFill>
          <a:ln w="12700">
            <a:solidFill>
              <a:schemeClr val="accent2"/>
            </a:solidFill>
            <a:prstDash val="solid"/>
          </a:ln>
        </p:spPr>
      </p:sp>
      <p:pic>
        <p:nvPicPr>
          <p:cNvPr id="12" name="Future 3 icon" descr="preencoded.png">    </p:cNvPr>
          <p:cNvPicPr>
            <a:picLocks noChangeAspect="1"/>
          </p:cNvPicPr>
          <p:nvPr/>
        </p:nvPicPr>
        <p:blipFill>
          <a:blip r:embed="rId3"/>
          <a:stretch>
            <a:fillRect/>
          </a:stretch>
        </p:blipFill>
        <p:spPr>
          <a:xfrm>
            <a:off x="795528" y="3328416"/>
            <a:ext cx="237744" cy="237744"/>
          </a:xfrm>
          <a:prstGeom prst="rect">
            <a:avLst/>
          </a:prstGeom>
        </p:spPr>
      </p:pic>
      <p:sp>
        <p:nvSpPr>
          <p:cNvPr id="13" name="Future 3 text"/>
          <p:cNvSpPr txBox="1"/>
          <p:nvPr/>
        </p:nvSpPr>
        <p:spPr>
          <a:xfrm>
            <a:off x="1325880" y="3218688"/>
            <a:ext cx="4434840" cy="457200"/>
          </a:xfrm>
          <a:prstGeom prst="rect">
            <a:avLst/>
          </a:prstGeom>
          <a:noFill/>
          <a:ln/>
        </p:spPr>
        <p:txBody>
          <a:bodyPr wrap="square" lIns="0" tIns="0" rIns="0" bIns="0" rtlCol="0" anchor="ctr"/>
          <a:lstStyle/>
          <a:p>
            <a:pPr indent="0" marL="0">
              <a:buNone/>
            </a:pPr>
            <a:r>
              <a:rPr lang="en-US" sz="1400" dirty="0">
                <a:solidFill>
                  <a:schemeClr val="tx1"/>
                </a:solidFill>
              </a:rPr>
              <a:t>Voice notes in more Indian languages</a:t>
            </a:r>
            <a:endParaRPr lang="en-US" sz="1400" dirty="0"/>
          </a:p>
        </p:txBody>
      </p:sp>
      <p:sp>
        <p:nvSpPr>
          <p:cNvPr id="14" name="Future 4 circle"/>
          <p:cNvSpPr/>
          <p:nvPr/>
        </p:nvSpPr>
        <p:spPr>
          <a:xfrm>
            <a:off x="685800" y="3968496"/>
            <a:ext cx="457200" cy="457200"/>
          </a:xfrm>
          <a:prstGeom prst="ellipse">
            <a:avLst/>
          </a:prstGeom>
          <a:solidFill>
            <a:schemeClr val="accent1"/>
          </a:solidFill>
          <a:ln w="12700">
            <a:solidFill>
              <a:schemeClr val="accent2"/>
            </a:solidFill>
            <a:prstDash val="solid"/>
          </a:ln>
        </p:spPr>
      </p:sp>
      <p:pic>
        <p:nvPicPr>
          <p:cNvPr id="15" name="Future 4 icon" descr="preencoded.png">    </p:cNvPr>
          <p:cNvPicPr>
            <a:picLocks noChangeAspect="1"/>
          </p:cNvPicPr>
          <p:nvPr/>
        </p:nvPicPr>
        <p:blipFill>
          <a:blip r:embed="rId4"/>
          <a:stretch>
            <a:fillRect/>
          </a:stretch>
        </p:blipFill>
        <p:spPr>
          <a:xfrm>
            <a:off x="795528" y="4078224"/>
            <a:ext cx="237744" cy="237744"/>
          </a:xfrm>
          <a:prstGeom prst="rect">
            <a:avLst/>
          </a:prstGeom>
        </p:spPr>
      </p:pic>
      <p:sp>
        <p:nvSpPr>
          <p:cNvPr id="16" name="Future 4 text"/>
          <p:cNvSpPr txBox="1"/>
          <p:nvPr/>
        </p:nvSpPr>
        <p:spPr>
          <a:xfrm>
            <a:off x="1325880" y="3968496"/>
            <a:ext cx="4434840" cy="457200"/>
          </a:xfrm>
          <a:prstGeom prst="rect">
            <a:avLst/>
          </a:prstGeom>
          <a:noFill/>
          <a:ln/>
        </p:spPr>
        <p:txBody>
          <a:bodyPr wrap="square" lIns="0" tIns="0" rIns="0" bIns="0" rtlCol="0" anchor="ctr"/>
          <a:lstStyle/>
          <a:p>
            <a:pPr indent="0" marL="0">
              <a:buNone/>
            </a:pPr>
            <a:r>
              <a:rPr lang="en-US" sz="1400" dirty="0">
                <a:solidFill>
                  <a:schemeClr val="tx1"/>
                </a:solidFill>
              </a:rPr>
              <a:t>Predict delays from team history</a:t>
            </a:r>
            <a:endParaRPr lang="en-US" sz="1400" dirty="0"/>
          </a:p>
        </p:txBody>
      </p:sp>
      <p:sp>
        <p:nvSpPr>
          <p:cNvPr id="17" name="Future 5 circle"/>
          <p:cNvSpPr/>
          <p:nvPr/>
        </p:nvSpPr>
        <p:spPr>
          <a:xfrm>
            <a:off x="685800" y="4718304"/>
            <a:ext cx="457200" cy="457200"/>
          </a:xfrm>
          <a:prstGeom prst="ellipse">
            <a:avLst/>
          </a:prstGeom>
          <a:solidFill>
            <a:schemeClr val="accent1"/>
          </a:solidFill>
          <a:ln w="12700">
            <a:solidFill>
              <a:schemeClr val="accent2"/>
            </a:solidFill>
            <a:prstDash val="solid"/>
          </a:ln>
        </p:spPr>
      </p:sp>
      <p:pic>
        <p:nvPicPr>
          <p:cNvPr id="18" name="Future 5 icon" descr="preencoded.png">    </p:cNvPr>
          <p:cNvPicPr>
            <a:picLocks noChangeAspect="1"/>
          </p:cNvPicPr>
          <p:nvPr/>
        </p:nvPicPr>
        <p:blipFill>
          <a:blip r:embed="rId5"/>
          <a:stretch>
            <a:fillRect/>
          </a:stretch>
        </p:blipFill>
        <p:spPr>
          <a:xfrm>
            <a:off x="795528" y="4828032"/>
            <a:ext cx="237744" cy="237744"/>
          </a:xfrm>
          <a:prstGeom prst="rect">
            <a:avLst/>
          </a:prstGeom>
        </p:spPr>
      </p:pic>
      <p:sp>
        <p:nvSpPr>
          <p:cNvPr id="19" name="Future 5 text"/>
          <p:cNvSpPr txBox="1"/>
          <p:nvPr/>
        </p:nvSpPr>
        <p:spPr>
          <a:xfrm>
            <a:off x="1325880" y="4718304"/>
            <a:ext cx="4434840" cy="457200"/>
          </a:xfrm>
          <a:prstGeom prst="rect">
            <a:avLst/>
          </a:prstGeom>
          <a:noFill/>
          <a:ln/>
        </p:spPr>
        <p:txBody>
          <a:bodyPr wrap="square" lIns="0" tIns="0" rIns="0" bIns="0" rtlCol="0" anchor="ctr"/>
          <a:lstStyle/>
          <a:p>
            <a:pPr indent="0" marL="0">
              <a:buNone/>
            </a:pPr>
            <a:r>
              <a:rPr lang="en-US" sz="1400" dirty="0">
                <a:solidFill>
                  <a:schemeClr val="tx1"/>
                </a:solidFill>
              </a:rPr>
              <a:t>Calendar sync for meeting slots</a:t>
            </a:r>
            <a:endParaRPr lang="en-US" sz="1400" dirty="0"/>
          </a:p>
        </p:txBody>
      </p:sp>
      <p:sp>
        <p:nvSpPr>
          <p:cNvPr id="20" name="Future 6 circle"/>
          <p:cNvSpPr/>
          <p:nvPr/>
        </p:nvSpPr>
        <p:spPr>
          <a:xfrm>
            <a:off x="685800" y="5468112"/>
            <a:ext cx="457200" cy="457200"/>
          </a:xfrm>
          <a:prstGeom prst="ellipse">
            <a:avLst/>
          </a:prstGeom>
          <a:solidFill>
            <a:schemeClr val="accent1"/>
          </a:solidFill>
          <a:ln w="12700">
            <a:solidFill>
              <a:schemeClr val="accent2"/>
            </a:solidFill>
            <a:prstDash val="solid"/>
          </a:ln>
        </p:spPr>
      </p:sp>
      <p:pic>
        <p:nvPicPr>
          <p:cNvPr id="21" name="Future 6 icon" descr="preencoded.png">    </p:cNvPr>
          <p:cNvPicPr>
            <a:picLocks noChangeAspect="1"/>
          </p:cNvPicPr>
          <p:nvPr/>
        </p:nvPicPr>
        <p:blipFill>
          <a:blip r:embed="rId6"/>
          <a:stretch>
            <a:fillRect/>
          </a:stretch>
        </p:blipFill>
        <p:spPr>
          <a:xfrm>
            <a:off x="795528" y="5577840"/>
            <a:ext cx="237744" cy="237744"/>
          </a:xfrm>
          <a:prstGeom prst="rect">
            <a:avLst/>
          </a:prstGeom>
        </p:spPr>
      </p:pic>
      <p:sp>
        <p:nvSpPr>
          <p:cNvPr id="22" name="Future 6 text"/>
          <p:cNvSpPr txBox="1"/>
          <p:nvPr/>
        </p:nvSpPr>
        <p:spPr>
          <a:xfrm>
            <a:off x="1325880" y="5468112"/>
            <a:ext cx="4434840" cy="457200"/>
          </a:xfrm>
          <a:prstGeom prst="rect">
            <a:avLst/>
          </a:prstGeom>
          <a:noFill/>
          <a:ln/>
        </p:spPr>
        <p:txBody>
          <a:bodyPr wrap="square" lIns="0" tIns="0" rIns="0" bIns="0" rtlCol="0" anchor="ctr"/>
          <a:lstStyle/>
          <a:p>
            <a:pPr indent="0" marL="0">
              <a:buNone/>
            </a:pPr>
            <a:r>
              <a:rPr lang="en-US" sz="1400" dirty="0">
                <a:solidFill>
                  <a:schemeClr val="tx1"/>
                </a:solidFill>
              </a:rPr>
              <a:t>Cloud SaaS with PostgreSQL and many teams</a:t>
            </a:r>
            <a:endParaRPr lang="en-US" sz="1400" dirty="0"/>
          </a:p>
        </p:txBody>
      </p:sp>
      <p:sp>
        <p:nvSpPr>
          <p:cNvPr id="23" name="Challenges card"/>
          <p:cNvSpPr/>
          <p:nvPr/>
        </p:nvSpPr>
        <p:spPr>
          <a:xfrm>
            <a:off x="6245352" y="1188720"/>
            <a:ext cx="5486400" cy="5120640"/>
          </a:xfrm>
          <a:prstGeom prst="roundRect">
            <a:avLst>
              <a:gd name="adj" fmla="val 1429"/>
            </a:avLst>
          </a:prstGeom>
          <a:solidFill>
            <a:schemeClr val="bg1">
              <a:alpha val="75000"/>
            </a:schemeClr>
          </a:solidFill>
          <a:ln w="9525">
            <a:solidFill>
              <a:schemeClr val="accent2"/>
            </a:solidFill>
            <a:prstDash val="solid"/>
          </a:ln>
          <a:effectLst>
            <a:outerShdw sx="100000" sy="100000" kx="0" ky="0" algn="bl" rotWithShape="0" blurRad="76200" dist="25400" dir="5400000">
              <a:srgbClr val="3A1A0C">
                <a:alpha val="18000"/>
              </a:srgbClr>
            </a:outerShdw>
          </a:effectLst>
        </p:spPr>
      </p:sp>
      <p:sp>
        <p:nvSpPr>
          <p:cNvPr id="24" name="Challenges label"/>
          <p:cNvSpPr txBox="1"/>
          <p:nvPr/>
        </p:nvSpPr>
        <p:spPr>
          <a:xfrm>
            <a:off x="6473952" y="1280160"/>
            <a:ext cx="5029200" cy="292608"/>
          </a:xfrm>
          <a:prstGeom prst="rect">
            <a:avLst/>
          </a:prstGeom>
          <a:noFill/>
          <a:ln/>
        </p:spPr>
        <p:txBody>
          <a:bodyPr wrap="square" lIns="0" tIns="0" rIns="0" bIns="0" rtlCol="0" anchor="ctr"/>
          <a:lstStyle/>
          <a:p>
            <a:pPr indent="0" marL="0">
              <a:buNone/>
            </a:pPr>
            <a:r>
              <a:rPr lang="en-US" sz="1400" b="1" spc="100" kern="0" dirty="0">
                <a:solidFill>
                  <a:schemeClr val="accent1"/>
                </a:solidFill>
                <a:latin typeface="Bookman Old Style" pitchFamily="34" charset="0"/>
                <a:ea typeface="Bookman Old Style" pitchFamily="34" charset="-122"/>
                <a:cs typeface="Bookman Old Style" pitchFamily="34" charset="-120"/>
              </a:rPr>
              <a:t>CHALLENGES &amp; HOW WE TACKLE THEM</a:t>
            </a:r>
            <a:endParaRPr lang="en-US" sz="1400" dirty="0"/>
          </a:p>
        </p:txBody>
      </p:sp>
      <p:sp>
        <p:nvSpPr>
          <p:cNvPr id="25" name="Challenge 1 circle"/>
          <p:cNvSpPr/>
          <p:nvPr/>
        </p:nvSpPr>
        <p:spPr>
          <a:xfrm>
            <a:off x="6473952" y="1719072"/>
            <a:ext cx="457200" cy="457200"/>
          </a:xfrm>
          <a:prstGeom prst="ellipse">
            <a:avLst/>
          </a:prstGeom>
          <a:solidFill>
            <a:schemeClr val="accent1"/>
          </a:solidFill>
          <a:ln w="12700">
            <a:solidFill>
              <a:schemeClr val="accent2"/>
            </a:solidFill>
            <a:prstDash val="solid"/>
          </a:ln>
        </p:spPr>
      </p:sp>
      <p:pic>
        <p:nvPicPr>
          <p:cNvPr id="26" name="Challenge 1 icon" descr="preencoded.png">    </p:cNvPr>
          <p:cNvPicPr>
            <a:picLocks noChangeAspect="1"/>
          </p:cNvPicPr>
          <p:nvPr/>
        </p:nvPicPr>
        <p:blipFill>
          <a:blip r:embed="rId7"/>
          <a:stretch>
            <a:fillRect/>
          </a:stretch>
        </p:blipFill>
        <p:spPr>
          <a:xfrm>
            <a:off x="6583680" y="1828800"/>
            <a:ext cx="237744" cy="237744"/>
          </a:xfrm>
          <a:prstGeom prst="rect">
            <a:avLst/>
          </a:prstGeom>
        </p:spPr>
      </p:pic>
      <p:sp>
        <p:nvSpPr>
          <p:cNvPr id="27" name="Challenge 1 title"/>
          <p:cNvSpPr txBox="1"/>
          <p:nvPr/>
        </p:nvSpPr>
        <p:spPr>
          <a:xfrm>
            <a:off x="7114032" y="1719072"/>
            <a:ext cx="4434840" cy="365760"/>
          </a:xfrm>
          <a:prstGeom prst="rect">
            <a:avLst/>
          </a:prstGeom>
          <a:noFill/>
          <a:ln/>
        </p:spPr>
        <p:txBody>
          <a:bodyPr wrap="square" lIns="0" tIns="0" rIns="0" bIns="0" rtlCol="0" anchor="ctr"/>
          <a:lstStyle/>
          <a:p>
            <a:pPr indent="0" marL="0">
              <a:buNone/>
            </a:pPr>
            <a:r>
              <a:rPr lang="en-US" sz="1400" b="1" dirty="0">
                <a:solidFill>
                  <a:schemeClr val="accent1"/>
                </a:solidFill>
              </a:rPr>
              <a:t>Messy, multilingual replies</a:t>
            </a:r>
            <a:endParaRPr lang="en-US" sz="1400" dirty="0"/>
          </a:p>
        </p:txBody>
      </p:sp>
      <p:sp>
        <p:nvSpPr>
          <p:cNvPr id="28" name="Challenge 1 text"/>
          <p:cNvSpPr txBox="1"/>
          <p:nvPr/>
        </p:nvSpPr>
        <p:spPr>
          <a:xfrm>
            <a:off x="7114032" y="2103120"/>
            <a:ext cx="4434840" cy="640080"/>
          </a:xfrm>
          <a:prstGeom prst="rect">
            <a:avLst/>
          </a:prstGeom>
          <a:noFill/>
          <a:ln/>
        </p:spPr>
        <p:txBody>
          <a:bodyPr wrap="square" lIns="0" tIns="0" rIns="0" bIns="0" rtlCol="0" anchor="t"/>
          <a:lstStyle/>
          <a:p>
            <a:pPr indent="0" marL="0">
              <a:buNone/>
            </a:pPr>
            <a:r>
              <a:rPr lang="en-US" sz="1300" dirty="0">
                <a:solidFill>
                  <a:schemeClr val="tx1"/>
                </a:solidFill>
              </a:rPr>
              <a:t>Hinglish dictionary, sarcasm and contrast detection, plus LLM reading</a:t>
            </a:r>
            <a:endParaRPr lang="en-US" sz="1300" dirty="0"/>
          </a:p>
        </p:txBody>
      </p:sp>
      <p:sp>
        <p:nvSpPr>
          <p:cNvPr id="29" name="Challenge 2 circle"/>
          <p:cNvSpPr/>
          <p:nvPr/>
        </p:nvSpPr>
        <p:spPr>
          <a:xfrm>
            <a:off x="6473952" y="2834640"/>
            <a:ext cx="457200" cy="457200"/>
          </a:xfrm>
          <a:prstGeom prst="ellipse">
            <a:avLst/>
          </a:prstGeom>
          <a:solidFill>
            <a:schemeClr val="accent1"/>
          </a:solidFill>
          <a:ln w="12700">
            <a:solidFill>
              <a:schemeClr val="accent2"/>
            </a:solidFill>
            <a:prstDash val="solid"/>
          </a:ln>
        </p:spPr>
      </p:sp>
      <p:pic>
        <p:nvPicPr>
          <p:cNvPr id="30" name="Challenge 2 icon" descr="preencoded.png">    </p:cNvPr>
          <p:cNvPicPr>
            <a:picLocks noChangeAspect="1"/>
          </p:cNvPicPr>
          <p:nvPr/>
        </p:nvPicPr>
        <p:blipFill>
          <a:blip r:embed="rId8"/>
          <a:stretch>
            <a:fillRect/>
          </a:stretch>
        </p:blipFill>
        <p:spPr>
          <a:xfrm>
            <a:off x="6583680" y="2944368"/>
            <a:ext cx="237744" cy="237744"/>
          </a:xfrm>
          <a:prstGeom prst="rect">
            <a:avLst/>
          </a:prstGeom>
        </p:spPr>
      </p:pic>
      <p:sp>
        <p:nvSpPr>
          <p:cNvPr id="31" name="Challenge 2 title"/>
          <p:cNvSpPr txBox="1"/>
          <p:nvPr/>
        </p:nvSpPr>
        <p:spPr>
          <a:xfrm>
            <a:off x="7114032" y="2834640"/>
            <a:ext cx="4434840" cy="365760"/>
          </a:xfrm>
          <a:prstGeom prst="rect">
            <a:avLst/>
          </a:prstGeom>
          <a:noFill/>
          <a:ln/>
        </p:spPr>
        <p:txBody>
          <a:bodyPr wrap="square" lIns="0" tIns="0" rIns="0" bIns="0" rtlCol="0" anchor="ctr"/>
          <a:lstStyle/>
          <a:p>
            <a:pPr indent="0" marL="0">
              <a:buNone/>
            </a:pPr>
            <a:r>
              <a:rPr lang="en-US" sz="1400" b="1" dirty="0">
                <a:solidFill>
                  <a:schemeClr val="accent1"/>
                </a:solidFill>
              </a:rPr>
              <a:t>LLM rate limits and outages</a:t>
            </a:r>
            <a:endParaRPr lang="en-US" sz="1400" dirty="0"/>
          </a:p>
        </p:txBody>
      </p:sp>
      <p:sp>
        <p:nvSpPr>
          <p:cNvPr id="32" name="Challenge 2 text"/>
          <p:cNvSpPr txBox="1"/>
          <p:nvPr/>
        </p:nvSpPr>
        <p:spPr>
          <a:xfrm>
            <a:off x="7114032" y="3218688"/>
            <a:ext cx="4434840" cy="640080"/>
          </a:xfrm>
          <a:prstGeom prst="rect">
            <a:avLst/>
          </a:prstGeom>
          <a:noFill/>
          <a:ln/>
        </p:spPr>
        <p:txBody>
          <a:bodyPr wrap="square" lIns="0" tIns="0" rIns="0" bIns="0" rtlCol="0" anchor="t"/>
          <a:lstStyle/>
          <a:p>
            <a:pPr indent="0" marL="0">
              <a:buNone/>
            </a:pPr>
            <a:r>
              <a:rPr lang="en-US" sz="1300" dirty="0">
                <a:solidFill>
                  <a:schemeClr val="tx1"/>
                </a:solidFill>
              </a:rPr>
              <a:t>Model rotation, circuit breaker and a 4-layer fallback</a:t>
            </a:r>
            <a:endParaRPr lang="en-US" sz="1300" dirty="0"/>
          </a:p>
        </p:txBody>
      </p:sp>
      <p:sp>
        <p:nvSpPr>
          <p:cNvPr id="33" name="Challenge 3 circle"/>
          <p:cNvSpPr/>
          <p:nvPr/>
        </p:nvSpPr>
        <p:spPr>
          <a:xfrm>
            <a:off x="6473952" y="3950208"/>
            <a:ext cx="457200" cy="457200"/>
          </a:xfrm>
          <a:prstGeom prst="ellipse">
            <a:avLst/>
          </a:prstGeom>
          <a:solidFill>
            <a:schemeClr val="accent1"/>
          </a:solidFill>
          <a:ln w="12700">
            <a:solidFill>
              <a:schemeClr val="accent2"/>
            </a:solidFill>
            <a:prstDash val="solid"/>
          </a:ln>
        </p:spPr>
      </p:sp>
      <p:pic>
        <p:nvPicPr>
          <p:cNvPr id="34" name="Challenge 3 icon" descr="preencoded.png">    </p:cNvPr>
          <p:cNvPicPr>
            <a:picLocks noChangeAspect="1"/>
          </p:cNvPicPr>
          <p:nvPr/>
        </p:nvPicPr>
        <p:blipFill>
          <a:blip r:embed="rId9"/>
          <a:stretch>
            <a:fillRect/>
          </a:stretch>
        </p:blipFill>
        <p:spPr>
          <a:xfrm>
            <a:off x="6583680" y="4059936"/>
            <a:ext cx="237744" cy="237744"/>
          </a:xfrm>
          <a:prstGeom prst="rect">
            <a:avLst/>
          </a:prstGeom>
        </p:spPr>
      </p:pic>
      <p:sp>
        <p:nvSpPr>
          <p:cNvPr id="35" name="Challenge 3 title"/>
          <p:cNvSpPr txBox="1"/>
          <p:nvPr/>
        </p:nvSpPr>
        <p:spPr>
          <a:xfrm>
            <a:off x="7114032" y="3950208"/>
            <a:ext cx="4434840" cy="365760"/>
          </a:xfrm>
          <a:prstGeom prst="rect">
            <a:avLst/>
          </a:prstGeom>
          <a:noFill/>
          <a:ln/>
        </p:spPr>
        <p:txBody>
          <a:bodyPr wrap="square" lIns="0" tIns="0" rIns="0" bIns="0" rtlCol="0" anchor="ctr"/>
          <a:lstStyle/>
          <a:p>
            <a:pPr indent="0" marL="0">
              <a:buNone/>
            </a:pPr>
            <a:r>
              <a:rPr lang="en-US" sz="1400" b="1" dirty="0">
                <a:solidFill>
                  <a:schemeClr val="accent1"/>
                </a:solidFill>
              </a:rPr>
              <a:t>Trusting AI decisions</a:t>
            </a:r>
            <a:endParaRPr lang="en-US" sz="1400" dirty="0"/>
          </a:p>
        </p:txBody>
      </p:sp>
      <p:sp>
        <p:nvSpPr>
          <p:cNvPr id="36" name="Challenge 3 text"/>
          <p:cNvSpPr txBox="1"/>
          <p:nvPr/>
        </p:nvSpPr>
        <p:spPr>
          <a:xfrm>
            <a:off x="7114032" y="4334256"/>
            <a:ext cx="4434840" cy="640080"/>
          </a:xfrm>
          <a:prstGeom prst="rect">
            <a:avLst/>
          </a:prstGeom>
          <a:noFill/>
          <a:ln/>
        </p:spPr>
        <p:txBody>
          <a:bodyPr wrap="square" lIns="0" tIns="0" rIns="0" bIns="0" rtlCol="0" anchor="t"/>
          <a:lstStyle/>
          <a:p>
            <a:pPr indent="0" marL="0">
              <a:buNone/>
            </a:pPr>
            <a:r>
              <a:rPr lang="en-US" sz="1300" dirty="0">
                <a:solidFill>
                  <a:schemeClr val="tx1"/>
                </a:solidFill>
              </a:rPr>
              <a:t>Rules enforced in code; every decision logged with its reasoning</a:t>
            </a:r>
            <a:endParaRPr lang="en-US" sz="1300" dirty="0"/>
          </a:p>
        </p:txBody>
      </p:sp>
      <p:sp>
        <p:nvSpPr>
          <p:cNvPr id="37" name="Challenge 4 circle"/>
          <p:cNvSpPr/>
          <p:nvPr/>
        </p:nvSpPr>
        <p:spPr>
          <a:xfrm>
            <a:off x="6473952" y="5065776"/>
            <a:ext cx="457200" cy="457200"/>
          </a:xfrm>
          <a:prstGeom prst="ellipse">
            <a:avLst/>
          </a:prstGeom>
          <a:solidFill>
            <a:schemeClr val="accent1"/>
          </a:solidFill>
          <a:ln w="12700">
            <a:solidFill>
              <a:schemeClr val="accent2"/>
            </a:solidFill>
            <a:prstDash val="solid"/>
          </a:ln>
        </p:spPr>
      </p:sp>
      <p:pic>
        <p:nvPicPr>
          <p:cNvPr id="38" name="Challenge 4 icon" descr="preencoded.png">    </p:cNvPr>
          <p:cNvPicPr>
            <a:picLocks noChangeAspect="1"/>
          </p:cNvPicPr>
          <p:nvPr/>
        </p:nvPicPr>
        <p:blipFill>
          <a:blip r:embed="rId10"/>
          <a:stretch>
            <a:fillRect/>
          </a:stretch>
        </p:blipFill>
        <p:spPr>
          <a:xfrm>
            <a:off x="6583680" y="5175504"/>
            <a:ext cx="237744" cy="237744"/>
          </a:xfrm>
          <a:prstGeom prst="rect">
            <a:avLst/>
          </a:prstGeom>
        </p:spPr>
      </p:pic>
      <p:sp>
        <p:nvSpPr>
          <p:cNvPr id="39" name="Challenge 4 title"/>
          <p:cNvSpPr txBox="1"/>
          <p:nvPr/>
        </p:nvSpPr>
        <p:spPr>
          <a:xfrm>
            <a:off x="7114032" y="5065776"/>
            <a:ext cx="4434840" cy="365760"/>
          </a:xfrm>
          <a:prstGeom prst="rect">
            <a:avLst/>
          </a:prstGeom>
          <a:noFill/>
          <a:ln/>
        </p:spPr>
        <p:txBody>
          <a:bodyPr wrap="square" lIns="0" tIns="0" rIns="0" bIns="0" rtlCol="0" anchor="ctr"/>
          <a:lstStyle/>
          <a:p>
            <a:pPr indent="0" marL="0">
              <a:buNone/>
            </a:pPr>
            <a:r>
              <a:rPr lang="en-US" sz="1400" b="1" dirty="0">
                <a:solidFill>
                  <a:schemeClr val="accent1"/>
                </a:solidFill>
              </a:rPr>
              <a:t>Privacy and scale (next)</a:t>
            </a:r>
            <a:endParaRPr lang="en-US" sz="1400" dirty="0"/>
          </a:p>
        </p:txBody>
      </p:sp>
      <p:sp>
        <p:nvSpPr>
          <p:cNvPr id="40" name="Challenge 4 text"/>
          <p:cNvSpPr txBox="1"/>
          <p:nvPr/>
        </p:nvSpPr>
        <p:spPr>
          <a:xfrm>
            <a:off x="7114032" y="5449824"/>
            <a:ext cx="4434840" cy="640080"/>
          </a:xfrm>
          <a:prstGeom prst="rect">
            <a:avLst/>
          </a:prstGeom>
          <a:noFill/>
          <a:ln/>
        </p:spPr>
        <p:txBody>
          <a:bodyPr wrap="square" lIns="0" tIns="0" rIns="0" bIns="0" rtlCol="0" anchor="t"/>
          <a:lstStyle/>
          <a:p>
            <a:pPr indent="0" marL="0">
              <a:buNone/>
            </a:pPr>
            <a:r>
              <a:rPr lang="en-US" sz="1300" dirty="0">
                <a:solidFill>
                  <a:schemeClr val="tx1"/>
                </a:solidFill>
              </a:rPr>
              <a:t>Per-team data isolation, encrypted secrets, PostgreSQL</a:t>
            </a:r>
            <a:endParaRPr lang="en-US" sz="1300" dirty="0"/>
          </a:p>
        </p:txBody>
      </p:sp>
      <p:sp>
        <p:nvSpPr>
          <p:cNvPr id="41" name="Page number"/>
          <p:cNvSpPr txBox="1"/>
          <p:nvPr/>
        </p:nvSpPr>
        <p:spPr>
          <a:xfrm>
            <a:off x="11155680" y="6601968"/>
            <a:ext cx="457200" cy="256032"/>
          </a:xfrm>
          <a:prstGeom prst="rect">
            <a:avLst/>
          </a:prstGeom>
          <a:noFill/>
          <a:ln/>
        </p:spPr>
        <p:txBody>
          <a:bodyPr wrap="square" lIns="0" tIns="0" rIns="0" bIns="0" rtlCol="0" anchor="ctr"/>
          <a:lstStyle/>
          <a:p>
            <a:pPr algn="r" indent="0" marL="0">
              <a:buNone/>
            </a:pPr>
            <a:r>
              <a:rPr lang="en-US" sz="1400" b="1" dirty="0">
                <a:solidFill>
                  <a:schemeClr val="accent5"/>
                </a:solidFill>
                <a:latin typeface="Bookman Old Style" pitchFamily="34" charset="0"/>
                <a:ea typeface="Bookman Old Style" pitchFamily="34" charset="-122"/>
                <a:cs typeface="Bookman Old Style" pitchFamily="34" charset="-120"/>
              </a:rPr>
              <a:t>04</a:t>
            </a:r>
            <a:endParaRPr lang="en-US" sz="1400" dirty="0"/>
          </a:p>
        </p:txBody>
      </p:sp>
    </p:spTree>
  </p:cSld>
  <p:clrMapOvr>
    <a:masterClrMapping/>
  </p:clrMapOvr>
</p:sld>
</file>

<file path=ppt/theme/theme1.xml><?xml version="1.0" encoding="utf-8"?>
<a:theme xmlns:a="http://schemas.openxmlformats.org/drawingml/2006/main" name="Kurukshetra Coordina">
  <a:themeElements>
    <a:clrScheme name="Kurukshetra Coordina">
      <a:dk1>
        <a:srgbClr val="2B1A10"/>
      </a:dk1>
      <a:lt1>
        <a:srgbClr val="FFFFFF"/>
      </a:lt1>
      <a:dk2>
        <a:srgbClr val="742118"/>
      </a:dk2>
      <a:lt2>
        <a:srgbClr val="F4E2C8"/>
      </a:lt2>
      <a:accent1>
        <a:srgbClr val="742118"/>
      </a:accent1>
      <a:accent2>
        <a:srgbClr val="C9962E"/>
      </a:accent2>
      <a:accent3>
        <a:srgbClr val="3A1A0C"/>
      </a:accent3>
      <a:accent4>
        <a:srgbClr val="A0522D"/>
      </a:accent4>
      <a:accent5>
        <a:srgbClr val="F0CF6F"/>
      </a:accent5>
      <a:accent6>
        <a:srgbClr val="5B7B3A"/>
      </a:accent6>
      <a:hlink>
        <a:srgbClr val="742118"/>
      </a:hlink>
      <a:folHlink>
        <a:srgbClr val="A0522D"/>
      </a:folHlink>
    </a:clrScheme>
    <a:fontScheme name="Kurukshetra Coordina">
      <a:majorFont>
        <a:latin typeface="Bookman Old Sty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mbr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Coordina — Autonomous AI Project &amp; Team Coordinator</dc:title>
  <dc:subject>PptxGenJS Presentation</dc:subject>
  <dc:creator>PptxGenJS</dc:creator>
  <cp:lastModifiedBy>PptxGenJS</cp:lastModifiedBy>
  <cp:revision>1</cp:revision>
  <dcterms:created xsi:type="dcterms:W3CDTF">2026-10-17T01:55:04Z</dcterms:created>
  <dcterms:modified xsi:type="dcterms:W3CDTF">2026-10-17T01:55:04Z</dcterms:modified>
</cp:coreProperties>
</file>